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143000" y="571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642938"/>
            <a:ext cx="45495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EST. ПРИРОДА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624617" y="642938"/>
            <a:ext cx="67159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КОММЕРЧЕСКОЕ ПРЕДЛОЖЕНИЕ ·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257300"/>
            <a:ext cx="62780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АВТОРСКИЕ СВЕЧИ РУЧНОЙ РАБОТЫ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743075"/>
            <a:ext cx="14716125" cy="346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22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Тишина, которую можно </a:t>
            </a:r>
            <a:pPr algn="l" indent="0" marL="0">
              <a:lnSpc>
                <a:spcPct val="90000"/>
              </a:lnSpc>
              <a:buNone/>
            </a:pPr>
            <a:r>
              <a:rPr lang="en-US" sz="15000" i="1" spc="-225" kern="0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зажечь</a:t>
            </a:r>
            <a:pPr algn="l" indent="0" marL="0">
              <a:lnSpc>
                <a:spcPct val="90000"/>
              </a:lnSpc>
              <a:buNone/>
            </a:pPr>
            <a:r>
              <a:rPr lang="en-US" sz="15000" spc="-225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.</a:t>
            </a:r>
            <a:endParaRPr lang="en-US" sz="15000" dirty="0"/>
          </a:p>
        </p:txBody>
      </p:sp>
      <p:sp>
        <p:nvSpPr>
          <p:cNvPr id="7" name="Text 4"/>
          <p:cNvSpPr/>
          <p:nvPr/>
        </p:nvSpPr>
        <p:spPr>
          <a:xfrm>
            <a:off x="1143000" y="5476875"/>
            <a:ext cx="4645084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Ароматические свечи, которые возвращают вас к себе через форму, аромат и звук природы. Маленький ритуал восстановления в центре городского шума.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2192000" y="3554730"/>
            <a:ext cx="4953000" cy="4953000"/>
          </a:xfrm>
          <a:prstGeom prst="ellipse">
            <a:avLst/>
          </a:prstGeom>
          <a:solidFill>
            <a:srgbClr val="D28A55">
              <a:alpha val="2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4287500" y="5650230"/>
            <a:ext cx="762000" cy="1905000"/>
          </a:xfrm>
          <a:prstGeom prst="roundRect">
            <a:avLst>
              <a:gd name="adj" fmla="val 50000"/>
            </a:avLst>
          </a:prstGeom>
          <a:solidFill>
            <a:srgbClr val="FFD28A"/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9334500"/>
            <a:ext cx="160020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9553575"/>
            <a:ext cx="663130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СЕРИЯ «ГОРЫ» · ДОСТУПНА К ЗАКАЗУ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712848" y="9553575"/>
            <a:ext cx="55951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 · ЗЕМЛЯ · ВИТА · ЖИЗНЬ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333500" y="952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0" y="1023938"/>
            <a:ext cx="3683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МАНИФЕСТ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2958093" y="1023938"/>
            <a:ext cx="41162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МАНИФЕСТ БРЕНДА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33500" y="1753939"/>
            <a:ext cx="387762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МАНИФЕСТ БРЕНДА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33500" y="2468314"/>
            <a:ext cx="16089630" cy="3718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750" spc="-158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Не декор. </a:t>
            </a:r>
            <a:pPr algn="l" indent="0" marL="0">
              <a:lnSpc>
                <a:spcPct val="92000"/>
              </a:lnSpc>
              <a:buNone/>
            </a:pPr>
            <a:r>
              <a:rPr lang="en-US" sz="15750" i="1" spc="-158" kern="0" dirty="0">
                <a:solidFill>
                  <a:srgbClr val="404A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Состояние.</a:t>
            </a:r>
            <a:endParaRPr lang="en-US" sz="15750" dirty="0"/>
          </a:p>
        </p:txBody>
      </p:sp>
      <p:sp>
        <p:nvSpPr>
          <p:cNvPr id="7" name="Text 4"/>
          <p:cNvSpPr/>
          <p:nvPr/>
        </p:nvSpPr>
        <p:spPr>
          <a:xfrm>
            <a:off x="1333500" y="6605885"/>
            <a:ext cx="9790362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Мы делаем свечи — не «уютные аксессуары». Это точка опоры в суете дня. Способ выдохнуть, замедлиться, восстановиться. Природа, сохранённая в форме и аромате — и доступная везде и всегда.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333500" y="8858250"/>
            <a:ext cx="156210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333500" y="9077325"/>
            <a:ext cx="26939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2026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333065" y="9077325"/>
            <a:ext cx="37300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20 · МАНИФЕСТ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143000" y="7620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833438"/>
            <a:ext cx="32497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РИТУАЛ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2727930" y="833438"/>
            <a:ext cx="45495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КАК ЭТО РАБОТАЕТ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762125"/>
            <a:ext cx="49607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РИТУАЛ · ЧЕТЫРЕ ШАГА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2400300"/>
            <a:ext cx="11324901" cy="1965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50" spc="-8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Десять минут, в которые возвращаешься </a:t>
            </a:r>
            <a:pPr algn="l" indent="0" marL="0">
              <a:lnSpc>
                <a:spcPct val="92000"/>
              </a:lnSpc>
              <a:buNone/>
            </a:pPr>
            <a:r>
              <a:rPr lang="en-US" sz="8250" i="1" spc="-8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домой</a:t>
            </a:r>
            <a:pPr algn="l" indent="0" marL="0">
              <a:lnSpc>
                <a:spcPct val="92000"/>
              </a:lnSpc>
              <a:buNone/>
            </a:pPr>
            <a:r>
              <a:rPr lang="en-US" sz="8250" spc="-8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.</a:t>
            </a:r>
            <a:endParaRPr lang="en-US" sz="8250" dirty="0"/>
          </a:p>
        </p:txBody>
      </p:sp>
      <p:sp>
        <p:nvSpPr>
          <p:cNvPr id="7" name="Shape 4"/>
          <p:cNvSpPr/>
          <p:nvPr/>
        </p:nvSpPr>
        <p:spPr>
          <a:xfrm>
            <a:off x="1143000" y="5090071"/>
            <a:ext cx="36576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5404396"/>
            <a:ext cx="376732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585" kern="0" dirty="0">
                <a:solidFill>
                  <a:srgbClr val="B7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143000" y="5913983"/>
            <a:ext cx="3767328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Зажгите свечу.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1143000" y="7117854"/>
            <a:ext cx="376732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Тяжёлая, ручная, фактурная — она ощущается, ещё не успев загореться.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257800" y="5090071"/>
            <a:ext cx="36576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5404396"/>
            <a:ext cx="376732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585" kern="0" dirty="0">
                <a:solidFill>
                  <a:srgbClr val="B7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5257800" y="5913983"/>
            <a:ext cx="3767328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Включите звук.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5257800" y="7117854"/>
            <a:ext cx="376732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QR на открытке с сургучной печатью открывает звуки стихии — лес, море или горы.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372600" y="5090071"/>
            <a:ext cx="36576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372600" y="5404396"/>
            <a:ext cx="376732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585" kern="0" dirty="0">
                <a:solidFill>
                  <a:srgbClr val="B7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372600" y="5913983"/>
            <a:ext cx="3767328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Замедли- тесь.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9372600" y="7117854"/>
            <a:ext cx="376732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Десять минут без задач. Только дыхание, аромат и звук, которые держат вас здесь.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3487400" y="5090071"/>
            <a:ext cx="36576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3487400" y="5404396"/>
            <a:ext cx="376732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585" kern="0" dirty="0">
                <a:solidFill>
                  <a:srgbClr val="B7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3487400" y="5913983"/>
            <a:ext cx="3767328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Вернитесь к себе.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13487400" y="7117854"/>
            <a:ext cx="376732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«отдых», а заземление. Опора. Ощущение, что вы снова дома — внутри себя.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143000" y="8908554"/>
            <a:ext cx="160020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143000" y="9127629"/>
            <a:ext cx="31083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РИТУАЛ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5736639" y="9127629"/>
            <a:ext cx="14845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20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143000" y="7620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833438"/>
            <a:ext cx="41162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ОСНОВАТЕЛЬ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676236" y="833438"/>
            <a:ext cx="56328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 · КТО СТОИТ ЗА БРЕНДОМ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43000" y="1543050"/>
            <a:ext cx="6858000" cy="812735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371600" y="9065568"/>
            <a:ext cx="2901628" cy="376238"/>
          </a:xfrm>
          <a:prstGeom prst="rect">
            <a:avLst/>
          </a:prstGeom>
          <a:solidFill>
            <a:srgbClr val="2A241A"/>
          </a:solidFill>
          <a:ln/>
        </p:spPr>
      </p:sp>
      <p:sp>
        <p:nvSpPr>
          <p:cNvPr id="7" name="Text 3"/>
          <p:cNvSpPr/>
          <p:nvPr/>
        </p:nvSpPr>
        <p:spPr>
          <a:xfrm>
            <a:off x="1562100" y="9179868"/>
            <a:ext cx="26076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ВИКТОРИЯ · ОСНОВАТЕЛЬ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953500" y="1543050"/>
            <a:ext cx="8437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КТО СТОИТ ЗА БРЕНДОМ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953500" y="2066925"/>
            <a:ext cx="8437245" cy="1926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200" b="1" i="1" spc="-21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«Я создала свечи, которые дают энергию стихий — даже если вы весь день не выходили из дома.»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8953500" y="4259907"/>
            <a:ext cx="4615421" cy="1337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 Виктория, основатель МАВИТА. Наш дом всегда был связан с горами: отец — альпинист, и любовь к высоте, камню и тишине пришла оттуда.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8953500" y="5730329"/>
            <a:ext cx="4615421" cy="1337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Каждая свеча — маленькое путешествие. Зажигаете, считываете QR на открытке с сургучной печатью — и включается звук горной реки, шелест листвы, дыхание моря.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953500" y="7200751"/>
            <a:ext cx="3716052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Только натуральные масла: пачули, эвкалипт, кипарис, можжевельник, пихта, апельсин, имбирь. Лучшее, что может дать природа.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953500" y="8789343"/>
            <a:ext cx="81915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8953500" y="9027468"/>
            <a:ext cx="214007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Виктория</a:t>
            </a:r>
            <a:endParaRPr lang="en-US" sz="4200" dirty="0"/>
          </a:p>
        </p:txBody>
      </p:sp>
      <p:sp>
        <p:nvSpPr>
          <p:cNvPr id="15" name="Text 11"/>
          <p:cNvSpPr/>
          <p:nvPr/>
        </p:nvSpPr>
        <p:spPr>
          <a:xfrm>
            <a:off x="11188824" y="9408468"/>
            <a:ext cx="17566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АВТОР МАВИТА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143000" y="571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642938"/>
            <a:ext cx="260025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ИМЯ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148593" y="642938"/>
            <a:ext cx="41162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 · МАГИЯ НАЗВАНИЯ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3529" y="1381125"/>
            <a:ext cx="36609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57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МАГИЯ НАЗВАНИЯ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02970" y="1866900"/>
            <a:ext cx="16482060" cy="1264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5250" spc="-5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Имя содержит то, что мы кладём </a:t>
            </a:r>
            <a:pPr algn="ctr" indent="0" marL="0">
              <a:lnSpc>
                <a:spcPct val="92000"/>
              </a:lnSpc>
              <a:buNone/>
            </a:pPr>
            <a:r>
              <a:rPr lang="en-US" sz="5250" i="1" spc="-5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 каждую свечу</a:t>
            </a:r>
            <a:pPr algn="ctr" indent="0" marL="0">
              <a:lnSpc>
                <a:spcPct val="92000"/>
              </a:lnSpc>
              <a:buNone/>
            </a:pPr>
            <a:r>
              <a:rPr lang="en-US" sz="5250" spc="-5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.</a:t>
            </a:r>
            <a:endParaRPr lang="en-US" sz="5250" dirty="0"/>
          </a:p>
        </p:txBody>
      </p:sp>
      <p:sp>
        <p:nvSpPr>
          <p:cNvPr id="7" name="Text 4"/>
          <p:cNvSpPr/>
          <p:nvPr/>
        </p:nvSpPr>
        <p:spPr>
          <a:xfrm>
            <a:off x="1038397" y="3960093"/>
            <a:ext cx="7182772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500" spc="-330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Ма</a:t>
            </a:r>
            <a:endParaRPr lang="en-US" sz="16500" dirty="0"/>
          </a:p>
        </p:txBody>
      </p:sp>
      <p:sp>
        <p:nvSpPr>
          <p:cNvPr id="8" name="Text 5"/>
          <p:cNvSpPr/>
          <p:nvPr/>
        </p:nvSpPr>
        <p:spPr>
          <a:xfrm>
            <a:off x="1038397" y="6074643"/>
            <a:ext cx="71827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20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ЗЕМЛЯ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578455" y="6522318"/>
            <a:ext cx="4102580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Опора, заземление, природная основа. Корень в древних языках, отсылающий к материнской земле.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878565" y="5111576"/>
            <a:ext cx="606996" cy="1652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0" i="1" dirty="0">
                <a:solidFill>
                  <a:srgbClr val="EFE5CF">
                    <a:alpha val="50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</a:t>
            </a:r>
            <a:endParaRPr lang="en-US" sz="10500" dirty="0"/>
          </a:p>
        </p:txBody>
      </p:sp>
      <p:sp>
        <p:nvSpPr>
          <p:cNvPr id="11" name="Text 8"/>
          <p:cNvSpPr/>
          <p:nvPr/>
        </p:nvSpPr>
        <p:spPr>
          <a:xfrm>
            <a:off x="10066756" y="3797722"/>
            <a:ext cx="7182849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500" i="1" spc="-330" kern="0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Вита</a:t>
            </a:r>
            <a:endParaRPr lang="en-US" sz="16500" dirty="0"/>
          </a:p>
        </p:txBody>
      </p:sp>
      <p:sp>
        <p:nvSpPr>
          <p:cNvPr id="12" name="Text 9"/>
          <p:cNvSpPr/>
          <p:nvPr/>
        </p:nvSpPr>
        <p:spPr>
          <a:xfrm>
            <a:off x="10066756" y="5912272"/>
            <a:ext cx="71828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20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ЖИЗНЬ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606890" y="6359947"/>
            <a:ext cx="4102580" cy="1337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Дыхание, движение, тепло. Свеча, аромат, звук — три ощущения, возвращающие жизнь в тело и в комнату.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02970" y="836295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МАВИТА — земля, на которой стоит жизнь.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143000" y="9334500"/>
            <a:ext cx="160020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9553575"/>
            <a:ext cx="39373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ЭТИМОЛОГИЯ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736639" y="9553575"/>
            <a:ext cx="14845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143000" y="7620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833438"/>
            <a:ext cx="32497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СТИХИИ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4200287" y="833438"/>
            <a:ext cx="30330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· ТРИ СТИХИИ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571625"/>
            <a:ext cx="27943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ТРИ СТИХИИ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2057400"/>
            <a:ext cx="13384009" cy="1965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50" spc="-8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Выберите состояние, в которое хочется </a:t>
            </a:r>
            <a:pPr algn="l" indent="0" marL="0">
              <a:lnSpc>
                <a:spcPct val="92000"/>
              </a:lnSpc>
              <a:buNone/>
            </a:pPr>
            <a:r>
              <a:rPr lang="en-US" sz="8250" i="1" spc="-8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вернуться</a:t>
            </a:r>
            <a:pPr algn="l" indent="0" marL="0">
              <a:lnSpc>
                <a:spcPct val="92000"/>
              </a:lnSpc>
              <a:buNone/>
            </a:pPr>
            <a:r>
              <a:rPr lang="en-US" sz="8250" spc="-8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.</a:t>
            </a:r>
            <a:endParaRPr lang="en-US" sz="8250" dirty="0"/>
          </a:p>
        </p:txBody>
      </p:sp>
      <p:sp>
        <p:nvSpPr>
          <p:cNvPr id="7" name="Shape 4"/>
          <p:cNvSpPr/>
          <p:nvPr/>
        </p:nvSpPr>
        <p:spPr>
          <a:xfrm>
            <a:off x="1143000" y="4747171"/>
            <a:ext cx="5105400" cy="4288482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71625" y="5175796"/>
            <a:ext cx="437559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A8C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ЗАЗЕМЛЕНИЕ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71625" y="5590133"/>
            <a:ext cx="4375595" cy="87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9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Лес</a:t>
            </a:r>
            <a:endParaRPr lang="en-US" sz="6900" dirty="0"/>
          </a:p>
        </p:txBody>
      </p:sp>
      <p:sp>
        <p:nvSpPr>
          <p:cNvPr id="10" name="Text 7"/>
          <p:cNvSpPr/>
          <p:nvPr/>
        </p:nvSpPr>
        <p:spPr>
          <a:xfrm>
            <a:off x="1571625" y="6575003"/>
            <a:ext cx="43755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мох · хвоя · влажная земля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71625" y="7117928"/>
            <a:ext cx="4375595" cy="879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Состояние безопасности и заземления. Запах мокрой коры, мха и хвои. Ровный шелест листвы поверх.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571625" y="8226028"/>
            <a:ext cx="424815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571625" y="8464153"/>
            <a:ext cx="43755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СЕРИЯ В РАЗРАБОТКЕ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6591300" y="4747171"/>
            <a:ext cx="5105400" cy="4288482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19925" y="5175796"/>
            <a:ext cx="437559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6E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ОТПУСКАНИЕ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019925" y="5590133"/>
            <a:ext cx="4375595" cy="87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9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Море</a:t>
            </a:r>
            <a:endParaRPr lang="en-US" sz="6900" dirty="0"/>
          </a:p>
        </p:txBody>
      </p:sp>
      <p:sp>
        <p:nvSpPr>
          <p:cNvPr id="17" name="Text 14"/>
          <p:cNvSpPr/>
          <p:nvPr/>
        </p:nvSpPr>
        <p:spPr>
          <a:xfrm>
            <a:off x="7019925" y="6575003"/>
            <a:ext cx="43755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E96A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соль · озон · минералы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019925" y="7117928"/>
            <a:ext cx="4375595" cy="879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Прохладный солёный воздух, минералы, гул прибоя на границе слышимого. Когда перестаёшь держать всё на себе.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7019925" y="8226028"/>
            <a:ext cx="424815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019925" y="8464153"/>
            <a:ext cx="43755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ЗАПУСК — ЛЕТО 2026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12039600" y="4747171"/>
            <a:ext cx="5105400" cy="4288482"/>
          </a:xfrm>
          <a:prstGeom prst="rect">
            <a:avLst/>
          </a:prstGeom>
          <a:solidFill>
            <a:srgbClr val="2A241A"/>
          </a:solidFill>
          <a:ln w="9525">
            <a:solidFill>
              <a:srgbClr val="D28A55">
                <a:alpha val="5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468225" y="5175796"/>
            <a:ext cx="437559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 · ЯСНОСТЬ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2468225" y="5590133"/>
            <a:ext cx="4375595" cy="87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9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Горы</a:t>
            </a:r>
            <a:endParaRPr lang="en-US" sz="6900" dirty="0"/>
          </a:p>
        </p:txBody>
      </p:sp>
      <p:sp>
        <p:nvSpPr>
          <p:cNvPr id="24" name="Text 21"/>
          <p:cNvSpPr/>
          <p:nvPr/>
        </p:nvSpPr>
        <p:spPr>
          <a:xfrm>
            <a:off x="12468225" y="6575003"/>
            <a:ext cx="43755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камень · кедр · застывшая лава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468225" y="7117928"/>
            <a:ext cx="4375595" cy="879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Высота тишины. Камень, который держит. Холодный воздух на вдохе. С этой серии начинается МАВИТА.</a:t>
            </a:r>
            <a:endParaRPr lang="en-US" sz="1425" dirty="0"/>
          </a:p>
        </p:txBody>
      </p:sp>
      <p:sp>
        <p:nvSpPr>
          <p:cNvPr id="26" name="Shape 23"/>
          <p:cNvSpPr/>
          <p:nvPr/>
        </p:nvSpPr>
        <p:spPr>
          <a:xfrm>
            <a:off x="12468225" y="8226028"/>
            <a:ext cx="424815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2468225" y="8464153"/>
            <a:ext cx="43755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ДОСТУПНО К ЗАКАЗУ · 7 ПОЗИЦИЙ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1143000" y="9569053"/>
            <a:ext cx="160020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143000" y="9788128"/>
            <a:ext cx="31083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СТИХИИ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5736639" y="9788128"/>
            <a:ext cx="14845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20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143000" y="7620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833438"/>
            <a:ext cx="3683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СТИХИЯ I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779624" y="8334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ЛЕС · ЗАЗЕМЛЕНИЕ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619250"/>
            <a:ext cx="102031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A8C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ЛЕС · ЗАЗЕМЛЕНИЕ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2181225"/>
            <a:ext cx="8648099" cy="350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Ощущение леса после </a:t>
            </a:r>
            <a:pPr algn="l" indent="0" marL="0">
              <a:lnSpc>
                <a:spcPct val="92000"/>
              </a:lnSpc>
              <a:buNone/>
            </a:pPr>
            <a:r>
              <a:rPr lang="en-US" sz="99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дождя </a:t>
            </a:r>
            <a:pPr algn="l" indent="0" marL="0">
              <a:lnSpc>
                <a:spcPct val="92000"/>
              </a:lnSpc>
              <a:buNone/>
            </a:pPr>
            <a:r>
              <a:rPr lang="en-US" sz="99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— у вас дома.</a:t>
            </a:r>
            <a:endParaRPr lang="en-US" sz="9900" dirty="0"/>
          </a:p>
        </p:txBody>
      </p:sp>
      <p:sp>
        <p:nvSpPr>
          <p:cNvPr id="7" name="Text 4"/>
          <p:cNvSpPr/>
          <p:nvPr/>
        </p:nvSpPr>
        <p:spPr>
          <a:xfrm>
            <a:off x="1143000" y="5956102"/>
            <a:ext cx="5757607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Состояние безопасности и заземления. Запах мокрой коры, мха и хвои. Ровный шелест листвы поверх. Стихия для тех вечеров, когда хочется почувствовать землю под ногами, а её нет.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36320" y="7784902"/>
            <a:ext cx="288798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МОХ · ХВОЯ</a:t>
            </a:r>
            <a:endParaRPr lang="en-US" sz="1200" dirty="0"/>
          </a:p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ПАПОРОТНИК · КЕДР</a:t>
            </a:r>
            <a:endParaRPr lang="en-US" sz="1200" dirty="0"/>
          </a:p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ВЛАЖНАЯ ЗЕМЛЯ</a:t>
            </a:r>
            <a:endParaRPr lang="en-US" sz="1200" dirty="0"/>
          </a:p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ДОЖДЬ · КОРА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9348788"/>
            <a:ext cx="1020318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36" kern="0" dirty="0">
                <a:solidFill>
                  <a:srgbClr val="A8C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СЕРИЯ В РАЗРАБОТКЕ · СЛЕДУЮЩИЙ РЕЛИЗ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001500" y="1619250"/>
            <a:ext cx="5143500" cy="7905750"/>
          </a:xfrm>
          <a:prstGeom prst="rect">
            <a:avLst/>
          </a:prstGeom>
          <a:solidFill>
            <a:srgbClr val="2A241A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392025" y="2009775"/>
            <a:ext cx="862087" cy="295275"/>
          </a:xfrm>
          <a:prstGeom prst="rect">
            <a:avLst/>
          </a:prstGeom>
          <a:solidFill>
            <a:srgbClr val="A8C478"/>
          </a:solidFill>
          <a:ln/>
        </p:spPr>
      </p:sp>
      <p:sp>
        <p:nvSpPr>
          <p:cNvPr id="12" name="Text 9"/>
          <p:cNvSpPr/>
          <p:nvPr/>
        </p:nvSpPr>
        <p:spPr>
          <a:xfrm>
            <a:off x="12544425" y="2085975"/>
            <a:ext cx="6334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1C18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СКОРО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2392025" y="2571750"/>
            <a:ext cx="449332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Скоро в коллекции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12392025" y="3638550"/>
            <a:ext cx="4493324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Лесная серия выходит следующим релизом. Формы — гриб, кора, камень со мхом, шишка.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2392025" y="7553325"/>
            <a:ext cx="436245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2392025" y="7791450"/>
            <a:ext cx="44933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ЗАПЛАНИРОВАНО ФОРМ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2392025" y="7991475"/>
            <a:ext cx="449332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6900" dirty="0"/>
          </a:p>
        </p:txBody>
      </p:sp>
      <p:sp>
        <p:nvSpPr>
          <p:cNvPr id="18" name="Text 15"/>
          <p:cNvSpPr/>
          <p:nvPr/>
        </p:nvSpPr>
        <p:spPr>
          <a:xfrm>
            <a:off x="12392025" y="8905875"/>
            <a:ext cx="44933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из общей линейки 2026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143000" y="7620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833438"/>
            <a:ext cx="38996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СТИХИЯ II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569255" y="833438"/>
            <a:ext cx="3683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МОРЕ · ОТПУСКАНИЕ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619250"/>
            <a:ext cx="102031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6E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МОРЕ · ОТПУСКАНИЕ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2181225"/>
            <a:ext cx="8648099" cy="4664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Закат у воды, когда плечи наконец </a:t>
            </a:r>
            <a:pPr algn="l" indent="0" marL="0">
              <a:lnSpc>
                <a:spcPct val="92000"/>
              </a:lnSpc>
              <a:buNone/>
            </a:pPr>
            <a:r>
              <a:rPr lang="en-US" sz="9900" i="1" dirty="0">
                <a:solidFill>
                  <a:srgbClr val="6E96A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опускаются</a:t>
            </a:r>
            <a:pPr algn="l" indent="0" marL="0">
              <a:lnSpc>
                <a:spcPct val="92000"/>
              </a:lnSpc>
              <a:buNone/>
            </a:pPr>
            <a:r>
              <a:rPr lang="en-US" sz="99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.</a:t>
            </a:r>
            <a:endParaRPr lang="en-US" sz="9900" dirty="0"/>
          </a:p>
        </p:txBody>
      </p:sp>
      <p:sp>
        <p:nvSpPr>
          <p:cNvPr id="7" name="Text 4"/>
          <p:cNvSpPr/>
          <p:nvPr/>
        </p:nvSpPr>
        <p:spPr>
          <a:xfrm>
            <a:off x="1143000" y="7112794"/>
            <a:ext cx="5757607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Морская стихия — про отпускание. Прохладный солёный воздух, минералы, гул прибоя где-то на границе слышимого. Состояние, когда перестаёшь держать всё на себе.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36320" y="8941594"/>
            <a:ext cx="288798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СОЛЬ · ОЗОН</a:t>
            </a:r>
            <a:endParaRPr lang="en-US" sz="1200" dirty="0"/>
          </a:p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БРИЗ · ВОДОРОСЛИ</a:t>
            </a:r>
            <a:endParaRPr lang="en-US" sz="1200" dirty="0"/>
          </a:p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МИНЕРАЛЫ · ПЕСОК</a:t>
            </a:r>
            <a:endParaRPr lang="en-US" sz="1200" dirty="0"/>
          </a:p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ЗАКАТ У ВОДЫ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9694069"/>
            <a:ext cx="1020318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36" kern="0" dirty="0">
                <a:solidFill>
                  <a:srgbClr val="6E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ЗАПУСК — ЛЕТО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001500" y="1619250"/>
            <a:ext cx="5143500" cy="8251031"/>
          </a:xfrm>
          <a:prstGeom prst="rect">
            <a:avLst/>
          </a:prstGeom>
          <a:solidFill>
            <a:srgbClr val="2A241A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392025" y="2009775"/>
            <a:ext cx="1307902" cy="295275"/>
          </a:xfrm>
          <a:prstGeom prst="rect">
            <a:avLst/>
          </a:prstGeom>
          <a:solidFill>
            <a:srgbClr val="6E96A3"/>
          </a:solidFill>
          <a:ln/>
        </p:spPr>
      </p:sp>
      <p:sp>
        <p:nvSpPr>
          <p:cNvPr id="12" name="Text 9"/>
          <p:cNvSpPr/>
          <p:nvPr/>
        </p:nvSpPr>
        <p:spPr>
          <a:xfrm>
            <a:off x="12544425" y="2085975"/>
            <a:ext cx="10793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1C18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ЛЕТО 2026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2392025" y="2571750"/>
            <a:ext cx="449332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Запуск — лето 2026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12392025" y="3638550"/>
            <a:ext cx="4493324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Формовые свечи: ракушки, окатанный камень, волна. Аромасаше с морской солью.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2392025" y="7898606"/>
            <a:ext cx="436245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2392025" y="8136731"/>
            <a:ext cx="44933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БУДЕТ В КОЛЛЕКЦИИ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2392025" y="8336756"/>
            <a:ext cx="449332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dirty="0">
                <a:solidFill>
                  <a:srgbClr val="6E96A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6900" dirty="0"/>
          </a:p>
        </p:txBody>
      </p:sp>
      <p:sp>
        <p:nvSpPr>
          <p:cNvPr id="18" name="Text 15"/>
          <p:cNvSpPr/>
          <p:nvPr/>
        </p:nvSpPr>
        <p:spPr>
          <a:xfrm>
            <a:off x="12392025" y="9251156"/>
            <a:ext cx="44933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форм и контейнеров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143000" y="7620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833438"/>
            <a:ext cx="41162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СТИХИЯ III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676236" y="833438"/>
            <a:ext cx="56328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ЯСНОСТЬ · В ПРОДАЖЕ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619250"/>
            <a:ext cx="102031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 · ГОРЫ · ЯСНОСТЬ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2181225"/>
            <a:ext cx="8648099" cy="5821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Высота тишины. Камень, который </a:t>
            </a:r>
            <a:pPr algn="l" indent="0" marL="0">
              <a:lnSpc>
                <a:spcPct val="92000"/>
              </a:lnSpc>
              <a:buNone/>
            </a:pPr>
            <a:r>
              <a:rPr lang="en-US" sz="99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держит</a:t>
            </a:r>
            <a:pPr algn="l" indent="0" marL="0">
              <a:lnSpc>
                <a:spcPct val="92000"/>
              </a:lnSpc>
              <a:buNone/>
            </a:pPr>
            <a:r>
              <a:rPr lang="en-US" sz="99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.</a:t>
            </a:r>
            <a:endParaRPr lang="en-US" sz="9900" dirty="0"/>
          </a:p>
        </p:txBody>
      </p:sp>
      <p:sp>
        <p:nvSpPr>
          <p:cNvPr id="7" name="Text 4"/>
          <p:cNvSpPr/>
          <p:nvPr/>
        </p:nvSpPr>
        <p:spPr>
          <a:xfrm>
            <a:off x="1143000" y="8269486"/>
            <a:ext cx="5757607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Горы — про ясность и силу. Холодный воздух на вдохе, древесина и лава, шум горной реки. Стихия для тех, кому нужно собраться и почувствовать опору внутри. С этой серии начинается МАВИТА.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36320" y="10469761"/>
            <a:ext cx="2887980" cy="700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КАМЕНЬ · КЕДР</a:t>
            </a:r>
            <a:endParaRPr lang="en-US" sz="1200" dirty="0"/>
          </a:p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МОЖЖЕВЕЛЬНИК · ПИХТА</a:t>
            </a:r>
            <a:endParaRPr lang="en-US" sz="1200" dirty="0"/>
          </a:p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ХОЛОДНЫЙ ВОЗДУХ</a:t>
            </a:r>
            <a:endParaRPr lang="en-US" sz="1200" dirty="0"/>
          </a:p>
          <a:p>
            <a:pPr algn="l" indent="0" marL="0">
              <a:buNone/>
            </a:pPr>
            <a:r>
              <a:rPr lang="en-US" sz="1200" spc="26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ЗАСТЫВШАЯ ЛАВА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11398448"/>
            <a:ext cx="1020318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3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ДОСТУПНО К ЗАКАЗУ · 7 ПОЗИЦИЙ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001500" y="1619250"/>
            <a:ext cx="5143500" cy="9955411"/>
          </a:xfrm>
          <a:prstGeom prst="rect">
            <a:avLst/>
          </a:prstGeom>
          <a:solidFill>
            <a:srgbClr val="2A241A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392025" y="2009775"/>
            <a:ext cx="1307902" cy="295275"/>
          </a:xfrm>
          <a:prstGeom prst="rect">
            <a:avLst/>
          </a:prstGeom>
          <a:solidFill>
            <a:srgbClr val="404A32"/>
          </a:solidFill>
          <a:ln/>
        </p:spPr>
      </p:sp>
      <p:sp>
        <p:nvSpPr>
          <p:cNvPr id="12" name="Text 9"/>
          <p:cNvSpPr/>
          <p:nvPr/>
        </p:nvSpPr>
        <p:spPr>
          <a:xfrm>
            <a:off x="12544425" y="2085975"/>
            <a:ext cx="10793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ПРОДАЖЕ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2392025" y="2571750"/>
            <a:ext cx="449332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Две коллекции внутри серии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12392025" y="3638550"/>
            <a:ext cx="4493324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«Неизведанные тропы свободы» — контейнерные свечи с универсальной крышкой. «Могущественный покой застывшей лавы» — формовые скалы, гальки, пирамиды.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2392025" y="9602986"/>
            <a:ext cx="436245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2392025" y="9841111"/>
            <a:ext cx="44933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ЦЕНЫ ОТ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2392025" y="10041136"/>
            <a:ext cx="449332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800 ₽</a:t>
            </a:r>
            <a:endParaRPr lang="en-US" sz="6900" dirty="0"/>
          </a:p>
        </p:txBody>
      </p:sp>
      <p:sp>
        <p:nvSpPr>
          <p:cNvPr id="18" name="Text 15"/>
          <p:cNvSpPr/>
          <p:nvPr/>
        </p:nvSpPr>
        <p:spPr>
          <a:xfrm>
            <a:off x="12392025" y="10955536"/>
            <a:ext cx="44933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до 2 000 ₽ за позицию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52500" y="47625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547688"/>
            <a:ext cx="38996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QR-РИТУАЛ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549461" y="547688"/>
            <a:ext cx="38996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· ГЛАВНАЯ ФИШКА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2500" y="1285875"/>
            <a:ext cx="60440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 ФИШКА — QR-РИТУАЛ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1809750"/>
            <a:ext cx="6439301" cy="2298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450" spc="-64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Свеча — это </a:t>
            </a:r>
            <a:pPr algn="l" indent="0" marL="0">
              <a:lnSpc>
                <a:spcPct val="92000"/>
              </a:lnSpc>
              <a:buNone/>
            </a:pPr>
            <a:r>
              <a:rPr lang="en-US" sz="6450" i="1" spc="-64" kern="0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половина </a:t>
            </a:r>
            <a:pPr algn="l" indent="0" marL="0">
              <a:lnSpc>
                <a:spcPct val="92000"/>
              </a:lnSpc>
              <a:buNone/>
            </a:pPr>
            <a:r>
              <a:rPr lang="en-US" sz="6450" spc="-64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опыта.</a:t>
            </a:r>
            <a:endParaRPr lang="en-US" sz="6450" dirty="0"/>
          </a:p>
        </p:txBody>
      </p:sp>
      <p:sp>
        <p:nvSpPr>
          <p:cNvPr id="7" name="Text 4"/>
          <p:cNvSpPr/>
          <p:nvPr/>
        </p:nvSpPr>
        <p:spPr>
          <a:xfrm>
            <a:off x="13660859" y="2737024"/>
            <a:ext cx="378488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 каждой свече прилагается дизайнерская открытка с сургучной печатью. Считываете QR — и поверх аромата включается звук стихии. Опыт собирается за десять секунд.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52500" y="4337224"/>
            <a:ext cx="4000500" cy="5473526"/>
          </a:xfrm>
          <a:prstGeom prst="rect">
            <a:avLst/>
          </a:prstGeom>
          <a:solidFill>
            <a:srgbClr val="F7EFDC"/>
          </a:solidFill>
          <a:ln/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219200" y="4603924"/>
            <a:ext cx="357111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spc="120" kern="0" dirty="0">
                <a:solidFill>
                  <a:srgbClr val="221C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МАВИТА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219200" y="5080174"/>
            <a:ext cx="35711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8A7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ВАША СТИХИЯ — ВНУТРИ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2000250" y="7277100"/>
            <a:ext cx="1905000" cy="1905000"/>
          </a:xfrm>
          <a:prstGeom prst="rect">
            <a:avLst/>
          </a:prstGeom>
          <a:solidFill>
            <a:srgbClr val="F7EFD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7334250"/>
            <a:ext cx="1790700" cy="17907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19200" y="9258300"/>
            <a:ext cx="2266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8A7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СЧИТАЙТЕ — И УСЛЫШЬТЕ СТИХИЮ</a:t>
            </a:r>
            <a:endParaRPr lang="en-US" sz="975" dirty="0"/>
          </a:p>
        </p:txBody>
      </p:sp>
      <p:sp>
        <p:nvSpPr>
          <p:cNvPr id="14" name="Shape 10"/>
          <p:cNvSpPr/>
          <p:nvPr/>
        </p:nvSpPr>
        <p:spPr>
          <a:xfrm>
            <a:off x="4191000" y="9048750"/>
            <a:ext cx="533400" cy="533400"/>
          </a:xfrm>
          <a:prstGeom prst="ellipse">
            <a:avLst/>
          </a:prstGeom>
          <a:solidFill>
            <a:srgbClr val="B7704A"/>
          </a:solidFill>
          <a:ln/>
          <a:effectLst>
            <a:outerShdw sx="100000" sy="100000" kx="0" ky="0" algn="bl" rotWithShape="0" blurRad="133350" dist="57150" dir="540000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152900" y="904875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7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5410200" y="4337224"/>
            <a:ext cx="11925300" cy="5473526"/>
          </a:xfrm>
          <a:prstGeom prst="rect">
            <a:avLst/>
          </a:prstGeom>
          <a:solidFill>
            <a:srgbClr val="2A241A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62625" y="4689649"/>
            <a:ext cx="16712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СЕЙЧАС ЗВУЧИТ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5388010" y="4689649"/>
            <a:ext cx="16712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04:12 / 12:40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762625" y="4951586"/>
            <a:ext cx="11557064" cy="710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4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Лес после </a:t>
            </a:r>
            <a:pPr algn="l" indent="0" marL="0">
              <a:lnSpc>
                <a:spcPct val="98000"/>
              </a:lnSpc>
              <a:buNone/>
            </a:pPr>
            <a:r>
              <a:rPr lang="en-US" sz="54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дождя</a:t>
            </a:r>
            <a:endParaRPr lang="en-US" sz="5400" dirty="0"/>
          </a:p>
        </p:txBody>
      </p:sp>
      <p:sp>
        <p:nvSpPr>
          <p:cNvPr id="20" name="Shape 16"/>
          <p:cNvSpPr/>
          <p:nvPr/>
        </p:nvSpPr>
        <p:spPr>
          <a:xfrm>
            <a:off x="5762625" y="7643515"/>
            <a:ext cx="1760413" cy="338138"/>
          </a:xfrm>
          <a:prstGeom prst="rect">
            <a:avLst/>
          </a:prstGeom>
          <a:solidFill>
            <a:srgbClr val="D28A55"/>
          </a:solidFill>
          <a:ln w="9525">
            <a:solidFill>
              <a:srgbClr val="D28A5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05500" y="7748290"/>
            <a:ext cx="155086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34" kern="0" dirty="0">
                <a:solidFill>
                  <a:srgbClr val="1C18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ЛЕС ПОСЛЕ ДОЖДЯ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618288" y="7643515"/>
            <a:ext cx="1367210" cy="338138"/>
          </a:xfrm>
          <a:prstGeom prst="rect">
            <a:avLst/>
          </a:prstGeom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61163" y="7748290"/>
            <a:ext cx="115766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3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ГОРНАЯ РЕКА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9080748" y="7643515"/>
            <a:ext cx="1465511" cy="338138"/>
          </a:xfrm>
          <a:prstGeom prst="rect">
            <a:avLst/>
          </a:prstGeom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223623" y="7748290"/>
            <a:ext cx="125596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3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ДЫХАНИЕ МОРЯ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10641509" y="7643515"/>
            <a:ext cx="1563812" cy="338138"/>
          </a:xfrm>
          <a:prstGeom prst="rect">
            <a:avLst/>
          </a:prstGeom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784384" y="7748290"/>
            <a:ext cx="135426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3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ШЕЛЕСТ ЛИСТВЫ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12300570" y="7643515"/>
            <a:ext cx="1465511" cy="338138"/>
          </a:xfrm>
          <a:prstGeom prst="rect">
            <a:avLst/>
          </a:prstGeom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2443445" y="7748290"/>
            <a:ext cx="125596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34" kern="0" dirty="0">
                <a:solidFill>
                  <a:srgbClr val="EFE5C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ТИХИЙ КОСТЁР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762625" y="8648700"/>
            <a:ext cx="1122045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5762625" y="8848725"/>
            <a:ext cx="609600" cy="609600"/>
          </a:xfrm>
          <a:prstGeom prst="ellipse">
            <a:avLst/>
          </a:prstGeom>
          <a:ln w="9525">
            <a:solidFill>
              <a:srgbClr val="D28A55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9039225"/>
            <a:ext cx="228600" cy="2286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5878026" y="8982075"/>
            <a:ext cx="11050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spc="270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МОКАП QR-РИТУАЛА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5282505" y="952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03525" y="1023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КАТАЛОГ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62591" y="1023938"/>
            <a:ext cx="38996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VII · СЕРИЯ «ГОРЫ»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257550" y="1688455"/>
            <a:ext cx="117729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57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СЕРИЯ «ГОРЫ» · В НАЛИЧИИ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257550" y="2250430"/>
            <a:ext cx="11772900" cy="398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250" spc="-11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Семь способов вернуть себе </a:t>
            </a:r>
            <a:pPr algn="ctr" indent="0" marL="0">
              <a:lnSpc>
                <a:spcPct val="92000"/>
              </a:lnSpc>
              <a:buNone/>
            </a:pPr>
            <a:r>
              <a:rPr lang="en-US" sz="11250" i="1" spc="-112" kern="0" dirty="0">
                <a:solidFill>
                  <a:srgbClr val="B7704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ясность</a:t>
            </a:r>
            <a:pPr algn="ctr" indent="0" marL="0">
              <a:lnSpc>
                <a:spcPct val="92000"/>
              </a:lnSpc>
              <a:buNone/>
            </a:pPr>
            <a:r>
              <a:rPr lang="en-US" sz="11250" spc="-11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.</a:t>
            </a:r>
            <a:endParaRPr lang="en-US" sz="11250" dirty="0"/>
          </a:p>
        </p:txBody>
      </p:sp>
      <p:sp>
        <p:nvSpPr>
          <p:cNvPr id="7" name="Text 4"/>
          <p:cNvSpPr/>
          <p:nvPr/>
        </p:nvSpPr>
        <p:spPr>
          <a:xfrm>
            <a:off x="3257550" y="6650980"/>
            <a:ext cx="11772900" cy="1306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Внутри серии — две коллекции: </a:t>
            </a:r>
            <a:pPr algn="ctr" indent="0" marL="0">
              <a:lnSpc>
                <a:spcPct val="155000"/>
              </a:lnSpc>
              <a:buNone/>
            </a:pPr>
            <a:r>
              <a:rPr lang="en-US" sz="21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«Неизведанные тропы свободы» </a:t>
            </a:r>
            <a:pPr algn="ctr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 мягкой, обнимающей нотой кедра и можжевельника, и </a:t>
            </a:r>
            <a:pPr algn="ctr" indent="0" marL="0">
              <a:lnSpc>
                <a:spcPct val="155000"/>
              </a:lnSpc>
              <a:buNone/>
            </a:pPr>
            <a:r>
              <a:rPr lang="en-US" sz="21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«Могущественный покой застывшей лавы» </a:t>
            </a:r>
            <a:pPr algn="ctr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глубокая, минеральная, дымчатая. Все позиции — ручная работа, гипс и натуральный воск.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5321350" y="8858250"/>
            <a:ext cx="7645301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273063" y="9077325"/>
            <a:ext cx="33156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КАТАЛОГ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74034" y="9077325"/>
            <a:ext cx="4559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20 · СЕМЬ ПОЗИЦИЙ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52500" y="571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КАТАЛОГ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970124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ПОЗИЦИЯ 01 ИЗ 07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52500" y="1238250"/>
            <a:ext cx="7620000" cy="8572500"/>
          </a:xfrm>
          <a:prstGeom prst="rect">
            <a:avLst/>
          </a:prstGeom>
          <a:solidFill>
            <a:srgbClr val="2A241A"/>
          </a:solidFill>
          <a:ln/>
        </p:spPr>
      </p:sp>
      <p:sp>
        <p:nvSpPr>
          <p:cNvPr id="6" name="Shape 3"/>
          <p:cNvSpPr/>
          <p:nvPr/>
        </p:nvSpPr>
        <p:spPr>
          <a:xfrm>
            <a:off x="1181100" y="1466850"/>
            <a:ext cx="1305446" cy="347663"/>
          </a:xfrm>
          <a:prstGeom prst="rect">
            <a:avLst/>
          </a:prstGeom>
          <a:solidFill>
            <a:srgbClr val="1C1812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43025" y="1552575"/>
            <a:ext cx="105779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07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500" y="1238250"/>
            <a:ext cx="7620000" cy="8572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34500" y="1238250"/>
            <a:ext cx="824095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НЕИЗВЕДАННЫЕ ТРОПЫ СВОБОДЫ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334500" y="1538288"/>
            <a:ext cx="8240953" cy="1510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3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Квадратная. Контейнерная.</a:t>
            </a:r>
            <a:endParaRPr lang="en-US" sz="6300" dirty="0"/>
          </a:p>
        </p:txBody>
      </p:sp>
      <p:sp>
        <p:nvSpPr>
          <p:cNvPr id="11" name="Text 7"/>
          <p:cNvSpPr/>
          <p:nvPr/>
        </p:nvSpPr>
        <p:spPr>
          <a:xfrm>
            <a:off x="9334500" y="3143696"/>
            <a:ext cx="82409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«Неизведанные тропы свободы»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334500" y="3629471"/>
            <a:ext cx="442894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Тяжёлый гипсовый куб с крапчатой фактурой — будто срез лавового камня. Мягкий тёплый аромат: кедр, можжевельник, лёгкая дымка. Свеча, рядом с которой хочется молчать.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334500" y="5020121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334500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9334500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Контейнерная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2071300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МАТЕРИАЛ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12071300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Гипс · воск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4808101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КРЫШКА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14808101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Универсальная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9334500" y="8782050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9334500" y="9020175"/>
            <a:ext cx="173399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1 800 </a:t>
            </a:r>
            <a:pPr algn="l" indent="0" marL="0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700" dirty="0"/>
          </a:p>
        </p:txBody>
      </p:sp>
      <p:sp>
        <p:nvSpPr>
          <p:cNvPr id="22" name="Shape 18"/>
          <p:cNvSpPr/>
          <p:nvPr/>
        </p:nvSpPr>
        <p:spPr>
          <a:xfrm>
            <a:off x="15140657" y="9339263"/>
            <a:ext cx="2194768" cy="471488"/>
          </a:xfrm>
          <a:prstGeom prst="rect">
            <a:avLst/>
          </a:prstGeom>
          <a:ln w="9525">
            <a:solidFill>
              <a:srgbClr val="D28A5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5397832" y="9501188"/>
            <a:ext cx="175661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52500" y="571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КАТАЛОГ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970124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ПОЗИЦИЯ 02 ИЗ 07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52500" y="1238250"/>
            <a:ext cx="7620000" cy="8572500"/>
          </a:xfrm>
          <a:prstGeom prst="rect">
            <a:avLst/>
          </a:prstGeom>
          <a:solidFill>
            <a:srgbClr val="2A241A"/>
          </a:solidFill>
          <a:ln/>
        </p:spPr>
      </p:sp>
      <p:sp>
        <p:nvSpPr>
          <p:cNvPr id="6" name="Shape 3"/>
          <p:cNvSpPr/>
          <p:nvPr/>
        </p:nvSpPr>
        <p:spPr>
          <a:xfrm>
            <a:off x="1181100" y="1466850"/>
            <a:ext cx="1305446" cy="347663"/>
          </a:xfrm>
          <a:prstGeom prst="rect">
            <a:avLst/>
          </a:prstGeom>
          <a:solidFill>
            <a:srgbClr val="1C1812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43025" y="1552575"/>
            <a:ext cx="105779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500" y="1238250"/>
            <a:ext cx="7620000" cy="8572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34500" y="1238250"/>
            <a:ext cx="824095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НЕИЗВЕДАННЫЕ ТРОПЫ СВОБОДЫ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334500" y="1538288"/>
            <a:ext cx="8240953" cy="1510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3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Круглая. Контейнерная.</a:t>
            </a:r>
            <a:endParaRPr lang="en-US" sz="6300" dirty="0"/>
          </a:p>
        </p:txBody>
      </p:sp>
      <p:sp>
        <p:nvSpPr>
          <p:cNvPr id="11" name="Text 7"/>
          <p:cNvSpPr/>
          <p:nvPr/>
        </p:nvSpPr>
        <p:spPr>
          <a:xfrm>
            <a:off x="9334500" y="3143696"/>
            <a:ext cx="82409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«Неизведанные тропы свободы»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334500" y="3629471"/>
            <a:ext cx="442894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Старшая сестра квадратной: тот же камень, чуть шире. Объём горит ровнее и дольше — ритуал получается длиннее. Подойдёт тем, кто зажигает свечу на весь вечер.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334500" y="5020121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334500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9334500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Контейнерная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2071300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12071300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Цилиндр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4808101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ГОРЕНИЕ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14808101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Длительное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9334500" y="8782050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9334500" y="9020175"/>
            <a:ext cx="177604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2 000 </a:t>
            </a:r>
            <a:pPr algn="l" indent="0" marL="0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700" dirty="0"/>
          </a:p>
        </p:txBody>
      </p:sp>
      <p:sp>
        <p:nvSpPr>
          <p:cNvPr id="22" name="Shape 18"/>
          <p:cNvSpPr/>
          <p:nvPr/>
        </p:nvSpPr>
        <p:spPr>
          <a:xfrm>
            <a:off x="15140657" y="9339263"/>
            <a:ext cx="2194768" cy="471488"/>
          </a:xfrm>
          <a:prstGeom prst="rect">
            <a:avLst/>
          </a:prstGeom>
          <a:ln w="9525">
            <a:solidFill>
              <a:srgbClr val="D28A5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5397832" y="9501188"/>
            <a:ext cx="175661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52500" y="571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КАТАЛОГ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970124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ПОЗИЦИЯ 03 ИЗ 07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52500" y="1238250"/>
            <a:ext cx="7620000" cy="8572500"/>
          </a:xfrm>
          <a:prstGeom prst="rect">
            <a:avLst/>
          </a:prstGeom>
          <a:solidFill>
            <a:srgbClr val="2A241A"/>
          </a:solidFill>
          <a:ln/>
        </p:spPr>
      </p:sp>
      <p:sp>
        <p:nvSpPr>
          <p:cNvPr id="6" name="Shape 3"/>
          <p:cNvSpPr/>
          <p:nvPr/>
        </p:nvSpPr>
        <p:spPr>
          <a:xfrm>
            <a:off x="1181100" y="1466850"/>
            <a:ext cx="1305446" cy="347663"/>
          </a:xfrm>
          <a:prstGeom prst="rect">
            <a:avLst/>
          </a:prstGeom>
          <a:solidFill>
            <a:srgbClr val="1C1812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43025" y="1552575"/>
            <a:ext cx="105779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500" y="1238250"/>
            <a:ext cx="7620000" cy="8572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34500" y="1238250"/>
            <a:ext cx="824095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МОГУЩЕСТВЕННЫЙ ПОКОЙ ЗАСТЫВШЕЙ ЛАВЫ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334500" y="1538288"/>
            <a:ext cx="8240953" cy="1510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3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Покой застывшей лавы.</a:t>
            </a:r>
            <a:endParaRPr lang="en-US" sz="6300" dirty="0"/>
          </a:p>
        </p:txBody>
      </p:sp>
      <p:sp>
        <p:nvSpPr>
          <p:cNvPr id="11" name="Text 7"/>
          <p:cNvSpPr/>
          <p:nvPr/>
        </p:nvSpPr>
        <p:spPr>
          <a:xfrm>
            <a:off x="9334500" y="3143696"/>
            <a:ext cx="82409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«Могущественный покой застывшей лавы»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334500" y="3629471"/>
            <a:ext cx="442894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Глубокий, минеральный, чуть дымный аромат. Камень, который уже остыл, но всё ещё помнит огонь. Свеча для длинных разговоров с самим собой — и для вечеров после слишком громкого дня.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334500" y="5305871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334500" y="550589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9334500" y="568687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Контейнерная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2071300" y="550589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ПРОФИЛЬ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12071300" y="568687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Минеральный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4808101" y="550589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НАСТРОЕНИЕ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14808101" y="568687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Глубокое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9334500" y="8782050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9334500" y="9020175"/>
            <a:ext cx="173399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1 800 </a:t>
            </a:r>
            <a:pPr algn="l" indent="0" marL="0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700" dirty="0"/>
          </a:p>
        </p:txBody>
      </p:sp>
      <p:sp>
        <p:nvSpPr>
          <p:cNvPr id="22" name="Shape 18"/>
          <p:cNvSpPr/>
          <p:nvPr/>
        </p:nvSpPr>
        <p:spPr>
          <a:xfrm>
            <a:off x="15140657" y="9339263"/>
            <a:ext cx="2194768" cy="471488"/>
          </a:xfrm>
          <a:prstGeom prst="rect">
            <a:avLst/>
          </a:prstGeom>
          <a:ln w="9525">
            <a:solidFill>
              <a:srgbClr val="D28A5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5397832" y="9501188"/>
            <a:ext cx="175661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52500" y="571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КАТАЛОГ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970124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ПОЗИЦИЯ 04 ИЗ 07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52500" y="1238250"/>
            <a:ext cx="7620000" cy="8572500"/>
          </a:xfrm>
          <a:prstGeom prst="rect">
            <a:avLst/>
          </a:prstGeom>
          <a:solidFill>
            <a:srgbClr val="2A241A"/>
          </a:solidFill>
          <a:ln/>
        </p:spPr>
      </p:sp>
      <p:sp>
        <p:nvSpPr>
          <p:cNvPr id="6" name="Shape 3"/>
          <p:cNvSpPr/>
          <p:nvPr/>
        </p:nvSpPr>
        <p:spPr>
          <a:xfrm>
            <a:off x="1181100" y="1466850"/>
            <a:ext cx="1305446" cy="347663"/>
          </a:xfrm>
          <a:prstGeom prst="rect">
            <a:avLst/>
          </a:prstGeom>
          <a:solidFill>
            <a:srgbClr val="1C1812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43025" y="1552575"/>
            <a:ext cx="105779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500" y="1238250"/>
            <a:ext cx="7620000" cy="42291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2500" y="5581650"/>
            <a:ext cx="7620000" cy="4229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34500" y="1238250"/>
            <a:ext cx="824095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НЕИЗВЕДАННЫЕ ТРОПЫ СВОБОДЫ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9334500" y="1538288"/>
            <a:ext cx="8240953" cy="1510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3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Каменная пирамида. Двойная.</a:t>
            </a:r>
            <a:endParaRPr lang="en-US" sz="6300" dirty="0"/>
          </a:p>
        </p:txBody>
      </p:sp>
      <p:sp>
        <p:nvSpPr>
          <p:cNvPr id="12" name="Text 7"/>
          <p:cNvSpPr/>
          <p:nvPr/>
        </p:nvSpPr>
        <p:spPr>
          <a:xfrm>
            <a:off x="9334500" y="3143696"/>
            <a:ext cx="82409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«Неизведанные тропы свободы»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9334500" y="3629471"/>
            <a:ext cx="442894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Две контейнерные свечи, поставленные одна на другую — как горный тур. Универсальная крышка подходит к обеим: ритуал собирается под настроение. Самая «архитектурная» позиция серии.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9334500" y="5305871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9334500" y="550589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СОСТАВ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9334500" y="568687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 свечи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2071300" y="550589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КРЫШКА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12071300" y="568687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Универсальная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4808101" y="550589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ПОДАРОК</a:t>
            </a:r>
            <a:endParaRPr lang="en-US" sz="975" dirty="0"/>
          </a:p>
        </p:txBody>
      </p:sp>
      <p:sp>
        <p:nvSpPr>
          <p:cNvPr id="20" name="Text 15"/>
          <p:cNvSpPr/>
          <p:nvPr/>
        </p:nvSpPr>
        <p:spPr>
          <a:xfrm>
            <a:off x="14808101" y="568687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Да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9334500" y="8782050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9334500" y="9020175"/>
            <a:ext cx="1676102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1 500 </a:t>
            </a:r>
            <a:pPr algn="l" indent="0" marL="0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700" dirty="0"/>
          </a:p>
        </p:txBody>
      </p:sp>
      <p:sp>
        <p:nvSpPr>
          <p:cNvPr id="23" name="Shape 18"/>
          <p:cNvSpPr/>
          <p:nvPr/>
        </p:nvSpPr>
        <p:spPr>
          <a:xfrm>
            <a:off x="15140657" y="9339263"/>
            <a:ext cx="2194768" cy="471488"/>
          </a:xfrm>
          <a:prstGeom prst="rect">
            <a:avLst/>
          </a:prstGeom>
          <a:ln w="9525">
            <a:solidFill>
              <a:srgbClr val="D28A5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5397832" y="9501188"/>
            <a:ext cx="175661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52500" y="571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КАТАЛОГ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970124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ПОЗИЦИЯ 05 ИЗ 07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52500" y="1238250"/>
            <a:ext cx="7620000" cy="8572500"/>
          </a:xfrm>
          <a:prstGeom prst="rect">
            <a:avLst/>
          </a:prstGeom>
          <a:solidFill>
            <a:srgbClr val="2A241A"/>
          </a:solidFill>
          <a:ln/>
        </p:spPr>
      </p:sp>
      <p:sp>
        <p:nvSpPr>
          <p:cNvPr id="6" name="Shape 3"/>
          <p:cNvSpPr/>
          <p:nvPr/>
        </p:nvSpPr>
        <p:spPr>
          <a:xfrm>
            <a:off x="1181100" y="1466850"/>
            <a:ext cx="1305446" cy="347663"/>
          </a:xfrm>
          <a:prstGeom prst="rect">
            <a:avLst/>
          </a:prstGeom>
          <a:solidFill>
            <a:srgbClr val="1C1812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43025" y="1552575"/>
            <a:ext cx="105779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500" y="1238250"/>
            <a:ext cx="7620000" cy="8572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34500" y="1238250"/>
            <a:ext cx="824095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МОГУЩЕСТВЕННЫЙ ПОКОЙ ЗАСТЫВШЕЙ ЛАВЫ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334500" y="1538288"/>
            <a:ext cx="8240953" cy="1510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3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Пирамида из трёх камней.</a:t>
            </a:r>
            <a:endParaRPr lang="en-US" sz="6300" dirty="0"/>
          </a:p>
        </p:txBody>
      </p:sp>
      <p:sp>
        <p:nvSpPr>
          <p:cNvPr id="11" name="Text 7"/>
          <p:cNvSpPr/>
          <p:nvPr/>
        </p:nvSpPr>
        <p:spPr>
          <a:xfrm>
            <a:off x="9334500" y="3143696"/>
            <a:ext cx="82409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«Могущественный покой застывшей лавы»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334500" y="3629471"/>
            <a:ext cx="442894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Формовая свеча — три гальки, сложенные туром, как на тропе. Архаичный жест: оставить знак, что здесь кто-то был. Горит как единая форма, проявляя структуру слоя за слоем.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334500" y="5020121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334500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9334500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Формовая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2071300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КАМНЕЙ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12071300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4808101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СИЛУЭТ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14808101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Тур / Cairn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9334500" y="8782050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9334500" y="9020175"/>
            <a:ext cx="169061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1 700 </a:t>
            </a:r>
            <a:pPr algn="l" indent="0" marL="0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700" dirty="0"/>
          </a:p>
        </p:txBody>
      </p:sp>
      <p:sp>
        <p:nvSpPr>
          <p:cNvPr id="22" name="Shape 18"/>
          <p:cNvSpPr/>
          <p:nvPr/>
        </p:nvSpPr>
        <p:spPr>
          <a:xfrm>
            <a:off x="15140657" y="9339263"/>
            <a:ext cx="2194768" cy="471488"/>
          </a:xfrm>
          <a:prstGeom prst="rect">
            <a:avLst/>
          </a:prstGeom>
          <a:ln w="9525">
            <a:solidFill>
              <a:srgbClr val="D28A5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5397832" y="9501188"/>
            <a:ext cx="175661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52500" y="571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КАТАЛОГ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970124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ПОЗИЦИЯ 06 ИЗ 07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52500" y="1238250"/>
            <a:ext cx="7620000" cy="8572500"/>
          </a:xfrm>
          <a:prstGeom prst="rect">
            <a:avLst/>
          </a:prstGeom>
          <a:solidFill>
            <a:srgbClr val="2A241A"/>
          </a:solidFill>
          <a:ln/>
        </p:spPr>
      </p:sp>
      <p:sp>
        <p:nvSpPr>
          <p:cNvPr id="6" name="Shape 3"/>
          <p:cNvSpPr/>
          <p:nvPr/>
        </p:nvSpPr>
        <p:spPr>
          <a:xfrm>
            <a:off x="1181100" y="1466850"/>
            <a:ext cx="1305446" cy="347663"/>
          </a:xfrm>
          <a:prstGeom prst="rect">
            <a:avLst/>
          </a:prstGeom>
          <a:solidFill>
            <a:srgbClr val="1C1812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43025" y="1552575"/>
            <a:ext cx="105779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500" y="1238250"/>
            <a:ext cx="7620000" cy="8572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34500" y="1238250"/>
            <a:ext cx="824095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МОГУЩЕСТВЕННЫЙ ПОКОЙ ЗАСТЫВШЕЙ ЛАВЫ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334500" y="1538288"/>
            <a:ext cx="8240953" cy="774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3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Скала.</a:t>
            </a:r>
            <a:endParaRPr lang="en-US" sz="6300" dirty="0"/>
          </a:p>
        </p:txBody>
      </p:sp>
      <p:sp>
        <p:nvSpPr>
          <p:cNvPr id="11" name="Text 7"/>
          <p:cNvSpPr/>
          <p:nvPr/>
        </p:nvSpPr>
        <p:spPr>
          <a:xfrm>
            <a:off x="9334500" y="2407667"/>
            <a:ext cx="82409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«Могущественный покой застывшей лавы»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334500" y="2893442"/>
            <a:ext cx="442894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Гранёная вершина — отражение того, как горы выглядят на закате, когда тень укладывает рельеф в одно силуэтное движение. Самая «портретная» свеча серии: красиво стоит, красиво горит.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334500" y="4569842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334500" y="4769867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9334500" y="4950842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Формовая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2071300" y="4769867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СИЛУЭТ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12071300" y="4950842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Пик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4808101" y="4769867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РАЗМЕР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14808101" y="4950842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Средний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9334500" y="8782050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9334500" y="9020175"/>
            <a:ext cx="1348904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800 </a:t>
            </a:r>
            <a:pPr algn="l" indent="0" marL="0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700" dirty="0"/>
          </a:p>
        </p:txBody>
      </p:sp>
      <p:sp>
        <p:nvSpPr>
          <p:cNvPr id="22" name="Shape 18"/>
          <p:cNvSpPr/>
          <p:nvPr/>
        </p:nvSpPr>
        <p:spPr>
          <a:xfrm>
            <a:off x="15140657" y="9339263"/>
            <a:ext cx="2194768" cy="471488"/>
          </a:xfrm>
          <a:prstGeom prst="rect">
            <a:avLst/>
          </a:prstGeom>
          <a:ln w="9525">
            <a:solidFill>
              <a:srgbClr val="D28A5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5397832" y="9501188"/>
            <a:ext cx="175661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52500" y="571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КАТАЛОГ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970124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ПОЗИЦИЯ 07 ИЗ 07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52500" y="1238250"/>
            <a:ext cx="7620000" cy="8572500"/>
          </a:xfrm>
          <a:prstGeom prst="rect">
            <a:avLst/>
          </a:prstGeom>
          <a:solidFill>
            <a:srgbClr val="2A241A"/>
          </a:solidFill>
          <a:ln/>
        </p:spPr>
      </p:sp>
      <p:sp>
        <p:nvSpPr>
          <p:cNvPr id="6" name="Shape 3"/>
          <p:cNvSpPr/>
          <p:nvPr/>
        </p:nvSpPr>
        <p:spPr>
          <a:xfrm>
            <a:off x="1181100" y="1466850"/>
            <a:ext cx="1305446" cy="347663"/>
          </a:xfrm>
          <a:prstGeom prst="rect">
            <a:avLst/>
          </a:prstGeom>
          <a:solidFill>
            <a:srgbClr val="1C1812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43025" y="1552575"/>
            <a:ext cx="105779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EFE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07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500" y="1238250"/>
            <a:ext cx="7620000" cy="8572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34500" y="1238250"/>
            <a:ext cx="824095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ГОРЫ · МОГУЩЕСТВЕННЫЙ ПОКОЙ ЗАСТЫВШЕЙ ЛАВЫ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334500" y="1538288"/>
            <a:ext cx="8240953" cy="1510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3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Галька. Пара.</a:t>
            </a:r>
            <a:endParaRPr lang="en-US" sz="6300" dirty="0"/>
          </a:p>
        </p:txBody>
      </p:sp>
      <p:sp>
        <p:nvSpPr>
          <p:cNvPr id="11" name="Text 7"/>
          <p:cNvSpPr/>
          <p:nvPr/>
        </p:nvSpPr>
        <p:spPr>
          <a:xfrm>
            <a:off x="9334500" y="3143696"/>
            <a:ext cx="82409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C47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«Могущественный покой застывшей лавы»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334500" y="3629471"/>
            <a:ext cx="442894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Два окатанных камня — тёплый дым и холодный камень в одной композиции. Маленький, тихий объект, который удобно дарить в паре с открыткой и сургучной печатью.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334500" y="5020121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334500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9334500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Формовая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2071300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СИЛУЭТ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12071300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Окатыш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4808101" y="5220146"/>
            <a:ext cx="260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ПАРЕ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14808101" y="5401121"/>
            <a:ext cx="260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 шт.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9334500" y="8782050"/>
            <a:ext cx="8000926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9334500" y="9020175"/>
            <a:ext cx="133156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900 </a:t>
            </a:r>
            <a:pPr algn="l" indent="0" marL="0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₽</a:t>
            </a:r>
            <a:endParaRPr lang="en-US" sz="5700" dirty="0"/>
          </a:p>
        </p:txBody>
      </p:sp>
      <p:sp>
        <p:nvSpPr>
          <p:cNvPr id="22" name="Shape 18"/>
          <p:cNvSpPr/>
          <p:nvPr/>
        </p:nvSpPr>
        <p:spPr>
          <a:xfrm>
            <a:off x="15140657" y="9339263"/>
            <a:ext cx="2194768" cy="471488"/>
          </a:xfrm>
          <a:prstGeom prst="rect">
            <a:avLst/>
          </a:prstGeom>
          <a:ln w="9525">
            <a:solidFill>
              <a:srgbClr val="D28A5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5397832" y="9501188"/>
            <a:ext cx="175661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ОБСУДИТЬ ЗАКАЗ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52500" y="571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642938"/>
            <a:ext cx="3466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ПОДАРКИ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866736" y="642938"/>
            <a:ext cx="56328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VIII · ПОДАРОЧНЫЕ СЦЕНАРИИ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2500" y="1381125"/>
            <a:ext cx="47441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ПОДАРОЧНЫЕ СЦЕНАРИИ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1905000"/>
            <a:ext cx="8985037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000" spc="-60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Не набор предметов. </a:t>
            </a:r>
            <a:pPr algn="l" indent="0" marL="0">
              <a:lnSpc>
                <a:spcPct val="92000"/>
              </a:lnSpc>
              <a:buNone/>
            </a:pPr>
            <a:r>
              <a:rPr lang="en-US" sz="6000" i="1" spc="-60" kern="0" dirty="0">
                <a:solidFill>
                  <a:srgbClr val="404A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Сценарий вечера.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952500" y="3497461"/>
            <a:ext cx="51612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Каждый сценарий — собранный опыт: предметы, открытка с QR, ароматическая дорожка и подсказка, как именно прожить вечер.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52500" y="4488061"/>
            <a:ext cx="5283175" cy="5322689"/>
          </a:xfrm>
          <a:prstGeom prst="rect">
            <a:avLst/>
          </a:prstGeom>
          <a:solidFill>
            <a:srgbClr val="2A241A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4802386"/>
            <a:ext cx="419100" cy="419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6825" y="5450086"/>
            <a:ext cx="479416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СЦЕНАРИЙ I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266825" y="5731073"/>
            <a:ext cx="4794161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Вечер восстановления.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1266825" y="6915894"/>
            <a:ext cx="479416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Контейнерная свеча, открытка с QR на «горную реку», карточка-инструкция: как замедлиться за 20 минут.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1266825" y="8305800"/>
            <a:ext cx="4654525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1266825" y="8486775"/>
            <a:ext cx="47941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ВНУТРИ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1140143" y="8724900"/>
            <a:ext cx="485740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Контейнерная свеча · 1</a:t>
            </a:r>
            <a:endParaRPr lang="en-US" sz="1425" dirty="0"/>
          </a:p>
          <a:p>
            <a:pPr algn="l" indent="0" marL="0"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Открытка с сургучной печатью</a:t>
            </a:r>
            <a:endParaRPr lang="en-US" sz="1425" dirty="0"/>
          </a:p>
          <a:p>
            <a:pPr algn="l" indent="0" marL="0"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QR-дорожка «Горная река»</a:t>
            </a:r>
            <a:endParaRPr lang="en-US" sz="1425" dirty="0"/>
          </a:p>
        </p:txBody>
      </p:sp>
      <p:sp>
        <p:nvSpPr>
          <p:cNvPr id="16" name="Shape 12"/>
          <p:cNvSpPr/>
          <p:nvPr/>
        </p:nvSpPr>
        <p:spPr>
          <a:xfrm>
            <a:off x="6502375" y="4488061"/>
            <a:ext cx="5283175" cy="5322689"/>
          </a:xfrm>
          <a:prstGeom prst="rect">
            <a:avLst/>
          </a:prstGeom>
          <a:solidFill>
            <a:srgbClr val="2A241A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700" y="4802386"/>
            <a:ext cx="419100" cy="4191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6700" y="5450086"/>
            <a:ext cx="479416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СЦЕНАРИЙ II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816700" y="5731073"/>
            <a:ext cx="4794161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Антистресс- ритуал.</a:t>
            </a:r>
            <a:endParaRPr lang="en-US" sz="4200" dirty="0"/>
          </a:p>
        </p:txBody>
      </p:sp>
      <p:sp>
        <p:nvSpPr>
          <p:cNvPr id="20" name="Text 15"/>
          <p:cNvSpPr/>
          <p:nvPr/>
        </p:nvSpPr>
        <p:spPr>
          <a:xfrm>
            <a:off x="6816700" y="6915894"/>
            <a:ext cx="4794161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Формовая «Скала» и «Галька» в паре. Минимум вещей, максимум опоры. Для тех, кому нужно собраться внутри.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6816700" y="8305800"/>
            <a:ext cx="4654525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6816700" y="8486775"/>
            <a:ext cx="47941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ВНУТРИ</a:t>
            </a:r>
            <a:endParaRPr lang="en-US" sz="975" dirty="0"/>
          </a:p>
        </p:txBody>
      </p:sp>
      <p:sp>
        <p:nvSpPr>
          <p:cNvPr id="23" name="Text 18"/>
          <p:cNvSpPr/>
          <p:nvPr/>
        </p:nvSpPr>
        <p:spPr>
          <a:xfrm>
            <a:off x="6690018" y="8724900"/>
            <a:ext cx="485740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Формовая «Скала» · 1</a:t>
            </a:r>
            <a:endParaRPr lang="en-US" sz="1425" dirty="0"/>
          </a:p>
          <a:p>
            <a:pPr algn="l" indent="0" marL="0"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Формовая «Галька» · 2</a:t>
            </a:r>
            <a:endParaRPr lang="en-US" sz="1425" dirty="0"/>
          </a:p>
          <a:p>
            <a:pPr algn="l" indent="0" marL="0"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Открытка с QR «Тихий костёр»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12052250" y="4488061"/>
            <a:ext cx="5283250" cy="5322689"/>
          </a:xfrm>
          <a:prstGeom prst="rect">
            <a:avLst/>
          </a:prstGeom>
          <a:solidFill>
            <a:srgbClr val="2A241A"/>
          </a:solidFill>
          <a:ln w="9525">
            <a:solidFill>
              <a:srgbClr val="EFE5CF">
                <a:alpha val="18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6575" y="4802386"/>
            <a:ext cx="419100" cy="4191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66575" y="5450086"/>
            <a:ext cx="47942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СЦЕНАРИЙ III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2366575" y="5731073"/>
            <a:ext cx="4794238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Мини- путешествие.</a:t>
            </a:r>
            <a:endParaRPr lang="en-US" sz="4200" dirty="0"/>
          </a:p>
        </p:txBody>
      </p:sp>
      <p:sp>
        <p:nvSpPr>
          <p:cNvPr id="28" name="Text 22"/>
          <p:cNvSpPr/>
          <p:nvPr/>
        </p:nvSpPr>
        <p:spPr>
          <a:xfrm>
            <a:off x="12366575" y="6915894"/>
            <a:ext cx="479423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EFE5C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Каменная пирамида из двух свечей с универсальной крышкой и три аудио-дорожки. Полный «выезд в горы».</a:t>
            </a:r>
            <a:endParaRPr lang="en-US" sz="1425" dirty="0"/>
          </a:p>
        </p:txBody>
      </p:sp>
      <p:sp>
        <p:nvSpPr>
          <p:cNvPr id="29" name="Shape 23"/>
          <p:cNvSpPr/>
          <p:nvPr/>
        </p:nvSpPr>
        <p:spPr>
          <a:xfrm>
            <a:off x="12366575" y="8305800"/>
            <a:ext cx="46546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12366575" y="8486775"/>
            <a:ext cx="4794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ВНУТРИ</a:t>
            </a:r>
            <a:endParaRPr lang="en-US" sz="975" dirty="0"/>
          </a:p>
        </p:txBody>
      </p:sp>
      <p:sp>
        <p:nvSpPr>
          <p:cNvPr id="31" name="Text 25"/>
          <p:cNvSpPr/>
          <p:nvPr/>
        </p:nvSpPr>
        <p:spPr>
          <a:xfrm>
            <a:off x="12239893" y="8724900"/>
            <a:ext cx="485748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Пирамида из 2 свечей</a:t>
            </a:r>
            <a:endParaRPr lang="en-US" sz="1425" dirty="0"/>
          </a:p>
          <a:p>
            <a:pPr algn="l" indent="0" marL="0"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Универсальная крышка</a:t>
            </a:r>
            <a:endParaRPr lang="en-US" sz="1425" dirty="0"/>
          </a:p>
          <a:p>
            <a:pPr algn="l" indent="0" marL="0">
              <a:buNone/>
            </a:pPr>
            <a:r>
              <a:rPr lang="en-US" sz="1425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 QR-дорожки на выбор</a:t>
            </a:r>
            <a:endParaRPr lang="en-US" sz="14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143000" y="571500"/>
            <a:ext cx="400050" cy="40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642938"/>
            <a:ext cx="3683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КОНТАКТЫ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358961" y="642938"/>
            <a:ext cx="38996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 · ЗАКАЗ И СВЯЗЬ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762125"/>
            <a:ext cx="17374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D2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ФИНАЛ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2324100"/>
            <a:ext cx="9827382" cy="398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50" spc="-11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Зажгите </a:t>
            </a:r>
            <a:pPr algn="l" indent="0" marL="0">
              <a:lnSpc>
                <a:spcPct val="92000"/>
              </a:lnSpc>
              <a:buNone/>
            </a:pPr>
            <a:r>
              <a:rPr lang="en-US" sz="11250" i="1" spc="-112" kern="0" dirty="0">
                <a:solidFill>
                  <a:srgbClr val="D28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тишину </a:t>
            </a:r>
            <a:pPr algn="l" indent="0" marL="0">
              <a:lnSpc>
                <a:spcPct val="92000"/>
              </a:lnSpc>
              <a:buNone/>
            </a:pPr>
            <a:r>
              <a:rPr lang="en-US" sz="11250" spc="-112" kern="0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. Напишите нам.</a:t>
            </a:r>
            <a:endParaRPr lang="en-US" sz="11250" dirty="0"/>
          </a:p>
        </p:txBody>
      </p:sp>
      <p:sp>
        <p:nvSpPr>
          <p:cNvPr id="7" name="Text 4"/>
          <p:cNvSpPr/>
          <p:nvPr/>
        </p:nvSpPr>
        <p:spPr>
          <a:xfrm>
            <a:off x="1143000" y="6572250"/>
            <a:ext cx="5814939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i="1" dirty="0">
                <a:solidFill>
                  <a:srgbClr val="EFE5CF">
                    <a:alpha val="7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Подберём свечу или сценарий под повод, обсудим партию для подарков сотрудникам или клиентам, добавим открытку с вашей подписью.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1143000" y="8504783"/>
            <a:ext cx="160020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8971508"/>
            <a:ext cx="52585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ПОЧТА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9262021"/>
            <a:ext cx="5258562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mavitasvechi@mail.ru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6591300" y="8971508"/>
            <a:ext cx="52585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ВКОНТАКТЕ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91300" y="9262021"/>
            <a:ext cx="5258562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vk.com/mavitasvechi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2039600" y="8971508"/>
            <a:ext cx="525856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ТЕЛЕФОН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039600" y="9262021"/>
            <a:ext cx="5258562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EFE5C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+7 (921) 189-90-08</a:t>
            </a:r>
            <a:endParaRPr lang="en-US" sz="2550" dirty="0"/>
          </a:p>
        </p:txBody>
      </p:sp>
      <p:sp>
        <p:nvSpPr>
          <p:cNvPr id="15" name="Shape 12"/>
          <p:cNvSpPr/>
          <p:nvPr/>
        </p:nvSpPr>
        <p:spPr>
          <a:xfrm>
            <a:off x="1143000" y="9847808"/>
            <a:ext cx="16002000" cy="9525"/>
          </a:xfrm>
          <a:prstGeom prst="rect">
            <a:avLst/>
          </a:prstGeom>
          <a:solidFill>
            <a:srgbClr val="EFE5CF">
              <a:alpha val="1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10066883"/>
            <a:ext cx="93251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МАВИТА · 2026 · АВТОРСКИЕ СВЕЧИ РУЧНОЙ РАБОТЫ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712848" y="10066883"/>
            <a:ext cx="55951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EFE5C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 · ЗЕМЛЯ · ВИТА · ЖИЗНЬ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2026-05-26T07:38:48Z</dcterms:created>
  <dcterms:modified xsi:type="dcterms:W3CDTF">2026-05-26T07:38:48Z</dcterms:modified>
</cp:coreProperties>
</file>