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857250" y="457200"/>
            <a:ext cx="361950" cy="361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2550" y="538163"/>
            <a:ext cx="223673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3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EST. 2023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14587389" y="457200"/>
            <a:ext cx="292866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31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МАРШРУТ · ВЫПУСК ЗИМЫ 2026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857250" y="1335137"/>
            <a:ext cx="170707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94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КОММЕРЧЕСКОЕ ПРЕДЛОЖЕНИЕ · СЛАЙД-МАРШРУТ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857250" y="1654225"/>
            <a:ext cx="8033471" cy="257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16500" spc="-330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Маршрут</a:t>
            </a:r>
            <a:endParaRPr lang="en-US" sz="16500" dirty="0"/>
          </a:p>
        </p:txBody>
      </p:sp>
      <p:sp>
        <p:nvSpPr>
          <p:cNvPr id="8" name="Text 4"/>
          <p:cNvSpPr/>
          <p:nvPr/>
        </p:nvSpPr>
        <p:spPr>
          <a:xfrm>
            <a:off x="857250" y="3372520"/>
            <a:ext cx="7859484" cy="257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16500" spc="-330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к тишине</a:t>
            </a:r>
            <a:endParaRPr lang="en-US" sz="16500" dirty="0"/>
          </a:p>
        </p:txBody>
      </p:sp>
      <p:sp>
        <p:nvSpPr>
          <p:cNvPr id="9" name="Text 5"/>
          <p:cNvSpPr/>
          <p:nvPr/>
        </p:nvSpPr>
        <p:spPr>
          <a:xfrm>
            <a:off x="857250" y="5562302"/>
            <a:ext cx="17070705" cy="412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600" i="1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в пятнадцати остановках.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857250" y="6432500"/>
            <a:ext cx="4128946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Свеча · аромат · звук — три ощущения, которые возвращают на место после слишком громкого дня.</a:t>
            </a:r>
            <a:endParaRPr lang="en-US" sz="2250" dirty="0"/>
          </a:p>
        </p:txBody>
      </p:sp>
      <p:sp>
        <p:nvSpPr>
          <p:cNvPr id="11" name="Text 7"/>
          <p:cNvSpPr/>
          <p:nvPr/>
        </p:nvSpPr>
        <p:spPr>
          <a:xfrm>
            <a:off x="857250" y="8161288"/>
            <a:ext cx="10604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31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ОСТАНОВОК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57250" y="8375600"/>
            <a:ext cx="106047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15</a:t>
            </a:r>
            <a:endParaRPr lang="en-US" sz="1425" dirty="0"/>
          </a:p>
        </p:txBody>
      </p:sp>
      <p:sp>
        <p:nvSpPr>
          <p:cNvPr id="13" name="Text 9"/>
          <p:cNvSpPr/>
          <p:nvPr/>
        </p:nvSpPr>
        <p:spPr>
          <a:xfrm>
            <a:off x="2603525" y="8161288"/>
            <a:ext cx="171665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31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СЕРИЯ В ПРОДАЖЕ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603525" y="8375600"/>
            <a:ext cx="171665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Горы · 7 позиций</a:t>
            </a:r>
            <a:endParaRPr lang="en-US" sz="1425" dirty="0"/>
          </a:p>
        </p:txBody>
      </p:sp>
      <p:sp>
        <p:nvSpPr>
          <p:cNvPr id="15" name="Text 11"/>
          <p:cNvSpPr/>
          <p:nvPr/>
        </p:nvSpPr>
        <p:spPr>
          <a:xfrm>
            <a:off x="5005983" y="8161288"/>
            <a:ext cx="193536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31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ВРЕМЯ ПРОХОЖДЕНИЯ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005983" y="8375600"/>
            <a:ext cx="193536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один тихий вечер</a:t>
            </a:r>
            <a:endParaRPr lang="en-US" sz="1425" dirty="0"/>
          </a:p>
        </p:txBody>
      </p:sp>
      <p:sp>
        <p:nvSpPr>
          <p:cNvPr id="17" name="Shape 13"/>
          <p:cNvSpPr/>
          <p:nvPr/>
        </p:nvSpPr>
        <p:spPr>
          <a:xfrm>
            <a:off x="857250" y="9163050"/>
            <a:ext cx="1657350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857250" y="9401175"/>
            <a:ext cx="200568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60.93° N · 30.31° E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ТОЧКА ОТПРАВЛЕНИЯ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3243932" y="9401175"/>
            <a:ext cx="9901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ОСТАНОВКА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 — СТАРТ</a:t>
            </a:r>
            <a:endParaRPr lang="en-US" sz="975" dirty="0"/>
          </a:p>
        </p:txBody>
      </p:sp>
      <p:sp>
        <p:nvSpPr>
          <p:cNvPr id="20" name="Text 16"/>
          <p:cNvSpPr/>
          <p:nvPr/>
        </p:nvSpPr>
        <p:spPr>
          <a:xfrm>
            <a:off x="14282738" y="9644063"/>
            <a:ext cx="324245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ПРОКРУТИТЕ → ИЛИ НАЖМИТЕ ПРОБЕЛ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857250" y="457200"/>
            <a:ext cx="361950" cy="361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2550" y="538163"/>
            <a:ext cx="7963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3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15462200" y="457200"/>
            <a:ext cx="20447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31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15 — МАНИФЕСТ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857250" y="1276350"/>
            <a:ext cx="170707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94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МАНИФЕСТ РИТУАЛА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857250" y="1781175"/>
            <a:ext cx="9172208" cy="249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0" spc="-10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Не декор. </a:t>
            </a:r>
            <a:pPr algn="l" indent="0" marL="0">
              <a:lnSpc>
                <a:spcPct val="92000"/>
              </a:lnSpc>
              <a:buNone/>
            </a:pPr>
            <a:r>
              <a:rPr lang="en-US" sz="10500" i="1" spc="-105" kern="0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Состояние.</a:t>
            </a:r>
            <a:endParaRPr lang="en-US" sz="10500" dirty="0"/>
          </a:p>
        </p:txBody>
      </p:sp>
      <p:sp>
        <p:nvSpPr>
          <p:cNvPr id="8" name="Text 4"/>
          <p:cNvSpPr/>
          <p:nvPr/>
        </p:nvSpPr>
        <p:spPr>
          <a:xfrm>
            <a:off x="857250" y="4539555"/>
            <a:ext cx="6021424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Маленький ритуал восстановления — собранный за десять секунд из формы, аромата и звука природы. В центре города, на двадцатом этаже, без билетов.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857250" y="6151141"/>
            <a:ext cx="811530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857250" y="6313066"/>
            <a:ext cx="835875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54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75" dirty="0"/>
          </a:p>
        </p:txBody>
      </p:sp>
      <p:sp>
        <p:nvSpPr>
          <p:cNvPr id="11" name="Text 7"/>
          <p:cNvSpPr/>
          <p:nvPr/>
        </p:nvSpPr>
        <p:spPr>
          <a:xfrm>
            <a:off x="857250" y="6594053"/>
            <a:ext cx="835875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Зажгите свечу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857250" y="7051253"/>
            <a:ext cx="8358759" cy="259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Тяжёлая, ручная, фактурная — она ощущается, ещё не успев загореться.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9315450" y="6151141"/>
            <a:ext cx="811530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9315450" y="6313066"/>
            <a:ext cx="835875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54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75" dirty="0"/>
          </a:p>
        </p:txBody>
      </p:sp>
      <p:sp>
        <p:nvSpPr>
          <p:cNvPr id="15" name="Text 11"/>
          <p:cNvSpPr/>
          <p:nvPr/>
        </p:nvSpPr>
        <p:spPr>
          <a:xfrm>
            <a:off x="9315450" y="6594053"/>
            <a:ext cx="835875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Включите звук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9315450" y="7051253"/>
            <a:ext cx="8358759" cy="259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QR на открытке с сургучной печатью открывает аудио стихии: лес, море или горы.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57250" y="7538889"/>
            <a:ext cx="811530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857250" y="7700814"/>
            <a:ext cx="835875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54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857250" y="7981801"/>
            <a:ext cx="835875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Замедлитесь</a:t>
            </a:r>
            <a:endParaRPr lang="en-US" sz="2100" dirty="0"/>
          </a:p>
        </p:txBody>
      </p:sp>
      <p:sp>
        <p:nvSpPr>
          <p:cNvPr id="20" name="Text 16"/>
          <p:cNvSpPr/>
          <p:nvPr/>
        </p:nvSpPr>
        <p:spPr>
          <a:xfrm>
            <a:off x="857250" y="8439001"/>
            <a:ext cx="8358759" cy="259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Десять минут без задач. Только дыхание, аромат и звук, которые держат вас здесь.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9315450" y="7538889"/>
            <a:ext cx="811530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9315450" y="7700814"/>
            <a:ext cx="835875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54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75" dirty="0"/>
          </a:p>
        </p:txBody>
      </p:sp>
      <p:sp>
        <p:nvSpPr>
          <p:cNvPr id="23" name="Text 19"/>
          <p:cNvSpPr/>
          <p:nvPr/>
        </p:nvSpPr>
        <p:spPr>
          <a:xfrm>
            <a:off x="9315450" y="7981801"/>
            <a:ext cx="835875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Вернитесь к себе</a:t>
            </a:r>
            <a:endParaRPr lang="en-US" sz="2100" dirty="0"/>
          </a:p>
        </p:txBody>
      </p:sp>
      <p:sp>
        <p:nvSpPr>
          <p:cNvPr id="24" name="Text 20"/>
          <p:cNvSpPr/>
          <p:nvPr/>
        </p:nvSpPr>
        <p:spPr>
          <a:xfrm>
            <a:off x="9315450" y="8439001"/>
            <a:ext cx="8358759" cy="259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 «отдых», а заземление. Ощущение, что вы снова дома — внутри себя.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57250" y="9163050"/>
            <a:ext cx="1657350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857250" y="9401175"/>
            <a:ext cx="231033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Δ. 0М НАД УРОВНЕМ ШУМА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БАЗОВАЯ ТОЧКА</a:t>
            </a:r>
            <a:endParaRPr lang="en-US" sz="975" dirty="0"/>
          </a:p>
        </p:txBody>
      </p:sp>
      <p:sp>
        <p:nvSpPr>
          <p:cNvPr id="27" name="Text 23"/>
          <p:cNvSpPr/>
          <p:nvPr/>
        </p:nvSpPr>
        <p:spPr>
          <a:xfrm>
            <a:off x="3548583" y="9401175"/>
            <a:ext cx="10700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ОСТАНОВКА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 — МАНИФЕСТ</a:t>
            </a:r>
            <a:endParaRPr lang="en-US" sz="975" dirty="0"/>
          </a:p>
        </p:txBody>
      </p:sp>
      <p:sp>
        <p:nvSpPr>
          <p:cNvPr id="28" name="Text 24"/>
          <p:cNvSpPr/>
          <p:nvPr/>
        </p:nvSpPr>
        <p:spPr>
          <a:xfrm>
            <a:off x="15704418" y="9644063"/>
            <a:ext cx="180253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ШАГА · 10 МИНУТ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857250" y="457200"/>
            <a:ext cx="361950" cy="361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2550" y="538163"/>
            <a:ext cx="7963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3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15352886" y="457200"/>
            <a:ext cx="215406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31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15 — ОБ АВТОРЕ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857250" y="1200150"/>
            <a:ext cx="6508700" cy="7810500"/>
          </a:xfrm>
          <a:prstGeom prst="rect">
            <a:avLst/>
          </a:prstGeom>
          <a:solidFill>
            <a:srgbClr val="2A2620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7250" y="1200150"/>
            <a:ext cx="6508700" cy="78105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7750" y="8915400"/>
            <a:ext cx="2426494" cy="381000"/>
          </a:xfrm>
          <a:prstGeom prst="rect">
            <a:avLst/>
          </a:prstGeom>
          <a:solidFill>
            <a:srgbClr val="0F1410"/>
          </a:solidFill>
          <a:ln w="9525">
            <a:solidFill>
              <a:srgbClr val="EFE5CF">
                <a:alpha val="20000"/>
              </a:srgbClr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228725" y="9020175"/>
            <a:ext cx="214074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234" kern="0" dirty="0">
                <a:solidFill>
                  <a:srgbClr val="EFE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ВИКТОРИЯ · ОСНОВАТЕЛЬ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8318450" y="2185988"/>
            <a:ext cx="302592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94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КТО СТОИТ ЗА БРЕНДОМ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8318450" y="2881313"/>
            <a:ext cx="9385669" cy="300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5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«Я создала свечи, которые дают </a:t>
            </a:r>
            <a:pPr algn="l" indent="0" marL="0">
              <a:lnSpc>
                <a:spcPct val="100000"/>
              </a:lnSpc>
              <a:buNone/>
            </a:pPr>
            <a:r>
              <a:rPr lang="en-US" sz="5850" i="1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энергию стихий </a:t>
            </a:r>
            <a:pPr algn="l" indent="0" marL="0">
              <a:lnSpc>
                <a:spcPct val="100000"/>
              </a:lnSpc>
              <a:buNone/>
            </a:pPr>
            <a:r>
              <a:rPr lang="en-US" sz="585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— даже если вы весь день не выходили из дома.»</a:t>
            </a:r>
            <a:endParaRPr lang="en-US" sz="5850" dirty="0"/>
          </a:p>
        </p:txBody>
      </p:sp>
      <p:sp>
        <p:nvSpPr>
          <p:cNvPr id="12" name="Text 7"/>
          <p:cNvSpPr/>
          <p:nvPr/>
        </p:nvSpPr>
        <p:spPr>
          <a:xfrm>
            <a:off x="8318450" y="6196013"/>
            <a:ext cx="536134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Дочь альпиниста — любовь к высоте, камню и тишине пришла оттуда. Работает только с натуральными маслами: пачули, эвкалипт, кипарис, можжевельник, пихта, апельсин, имбирь.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8318450" y="7691438"/>
            <a:ext cx="137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Виктория</a:t>
            </a:r>
            <a:endParaRPr lang="en-US" sz="2700" dirty="0"/>
          </a:p>
        </p:txBody>
      </p:sp>
      <p:sp>
        <p:nvSpPr>
          <p:cNvPr id="14" name="Text 9"/>
          <p:cNvSpPr/>
          <p:nvPr/>
        </p:nvSpPr>
        <p:spPr>
          <a:xfrm>
            <a:off x="9787235" y="7886700"/>
            <a:ext cx="149788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i="1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автор МАВИТА</a:t>
            </a:r>
            <a:endParaRPr lang="en-US" sz="975" dirty="0"/>
          </a:p>
        </p:txBody>
      </p:sp>
      <p:sp>
        <p:nvSpPr>
          <p:cNvPr id="15" name="Shape 10"/>
          <p:cNvSpPr/>
          <p:nvPr/>
        </p:nvSpPr>
        <p:spPr>
          <a:xfrm>
            <a:off x="857250" y="9163050"/>
            <a:ext cx="1657350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857250" y="9401175"/>
            <a:ext cx="159945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САНКТ-ПЕТЕРБУРГ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БАЗА БРЕНДА</a:t>
            </a:r>
            <a:endParaRPr lang="en-US" sz="975" dirty="0"/>
          </a:p>
        </p:txBody>
      </p:sp>
      <p:sp>
        <p:nvSpPr>
          <p:cNvPr id="17" name="Text 12"/>
          <p:cNvSpPr/>
          <p:nvPr/>
        </p:nvSpPr>
        <p:spPr>
          <a:xfrm>
            <a:off x="2837706" y="9401175"/>
            <a:ext cx="102542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ОСТАНОВКА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 — ВИКТОРИЯ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16618297" y="9644063"/>
            <a:ext cx="88865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ИНТЕРВЬЮ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857250" y="457200"/>
            <a:ext cx="361950" cy="361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2550" y="538163"/>
            <a:ext cx="7963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3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15134183" y="457200"/>
            <a:ext cx="23727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31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15 — МАГИЯ ИМЕНИ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8203183" y="1123950"/>
            <a:ext cx="19577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94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МАГИЯ ИМЕНИ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857250" y="2791792"/>
            <a:ext cx="7320966" cy="3114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85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Ма</a:t>
            </a:r>
            <a:endParaRPr lang="en-US" sz="28500" dirty="0"/>
          </a:p>
        </p:txBody>
      </p:sp>
      <p:sp>
        <p:nvSpPr>
          <p:cNvPr id="8" name="Text 4"/>
          <p:cNvSpPr/>
          <p:nvPr/>
        </p:nvSpPr>
        <p:spPr>
          <a:xfrm>
            <a:off x="857250" y="5906467"/>
            <a:ext cx="732096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i="1" dirty="0">
                <a:solidFill>
                  <a:srgbClr val="A8C47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земля · опора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857250" y="6554167"/>
            <a:ext cx="293709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Корень в древних языках, отсылающий к материнской земле — основе всего живого.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726984" y="4096717"/>
            <a:ext cx="910233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0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+</a:t>
            </a:r>
            <a:endParaRPr lang="en-US" sz="16500" dirty="0"/>
          </a:p>
        </p:txBody>
      </p:sp>
      <p:sp>
        <p:nvSpPr>
          <p:cNvPr id="11" name="Text 7"/>
          <p:cNvSpPr/>
          <p:nvPr/>
        </p:nvSpPr>
        <p:spPr>
          <a:xfrm>
            <a:off x="10510986" y="2250802"/>
            <a:ext cx="7127357" cy="441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85000"/>
              </a:lnSpc>
              <a:buNone/>
            </a:pPr>
            <a:r>
              <a:rPr lang="en-US" sz="285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Вита</a:t>
            </a:r>
            <a:endParaRPr lang="en-US" sz="28500" dirty="0"/>
          </a:p>
        </p:txBody>
      </p:sp>
      <p:sp>
        <p:nvSpPr>
          <p:cNvPr id="12" name="Text 8"/>
          <p:cNvSpPr/>
          <p:nvPr/>
        </p:nvSpPr>
        <p:spPr>
          <a:xfrm>
            <a:off x="10109784" y="6017940"/>
            <a:ext cx="7320966" cy="329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5000"/>
              </a:lnSpc>
              <a:buNone/>
            </a:pPr>
            <a:r>
              <a:rPr lang="en-US" sz="2700" i="1" dirty="0">
                <a:solidFill>
                  <a:srgbClr val="A8C47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жизнь · дыхание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15064680" y="6442695"/>
            <a:ext cx="236607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Тепло, движение, аромат — три ощущения, возвращающие жизнь в тело и в комнату.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133251" y="8469660"/>
            <a:ext cx="602142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МАВИТА — земля, на которой стоит жизнь. Каждая свеча буквально упаковывает это сочетание.</a:t>
            </a:r>
            <a:endParaRPr lang="en-US" sz="2100" dirty="0"/>
          </a:p>
        </p:txBody>
      </p:sp>
      <p:sp>
        <p:nvSpPr>
          <p:cNvPr id="15" name="Shape 11"/>
          <p:cNvSpPr/>
          <p:nvPr/>
        </p:nvSpPr>
        <p:spPr>
          <a:xfrm>
            <a:off x="857250" y="9163050"/>
            <a:ext cx="1657350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857250" y="9401175"/>
            <a:ext cx="180253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ЭТИМОЛОГИЯ БРЕНДА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СТАРО-ЛАТИНСКИЙ КОРЕНЬ</a:t>
            </a:r>
            <a:endParaRPr lang="en-US" sz="975" dirty="0"/>
          </a:p>
        </p:txBody>
      </p:sp>
      <p:sp>
        <p:nvSpPr>
          <p:cNvPr id="17" name="Text 13"/>
          <p:cNvSpPr/>
          <p:nvPr/>
        </p:nvSpPr>
        <p:spPr>
          <a:xfrm>
            <a:off x="3040782" y="9401175"/>
            <a:ext cx="9901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ОСТАНОВКА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04 — ИМЯ</a:t>
            </a:r>
            <a:endParaRPr lang="en-US" sz="975" dirty="0"/>
          </a:p>
        </p:txBody>
      </p:sp>
      <p:sp>
        <p:nvSpPr>
          <p:cNvPr id="18" name="Text 14"/>
          <p:cNvSpPr/>
          <p:nvPr/>
        </p:nvSpPr>
        <p:spPr>
          <a:xfrm>
            <a:off x="16516796" y="9644063"/>
            <a:ext cx="99015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 + ВИТА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857250" y="457200"/>
            <a:ext cx="361950" cy="361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2550" y="538163"/>
            <a:ext cx="7963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3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15243497" y="457200"/>
            <a:ext cx="22634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31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15 — ТРИ СТИХИИ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857250" y="1276350"/>
            <a:ext cx="170707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94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ТРИ СТИХИИ · ТРИ СОСТОЯНИЯ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857250" y="1781175"/>
            <a:ext cx="9733797" cy="2316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750" spc="-98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Выберите, куда хочется </a:t>
            </a:r>
            <a:pPr algn="l" indent="0" marL="0">
              <a:lnSpc>
                <a:spcPct val="92000"/>
              </a:lnSpc>
              <a:buNone/>
            </a:pPr>
            <a:r>
              <a:rPr lang="en-US" sz="9750" i="1" spc="-98" kern="0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вернуться.</a:t>
            </a:r>
            <a:endParaRPr lang="en-US" sz="9750" dirty="0"/>
          </a:p>
        </p:txBody>
      </p:sp>
      <p:sp>
        <p:nvSpPr>
          <p:cNvPr id="8" name="Shape 4"/>
          <p:cNvSpPr/>
          <p:nvPr/>
        </p:nvSpPr>
        <p:spPr>
          <a:xfrm>
            <a:off x="857250" y="4669036"/>
            <a:ext cx="5295900" cy="4494014"/>
          </a:xfrm>
          <a:prstGeom prst="rect">
            <a:avLst/>
          </a:prstGeom>
          <a:solidFill>
            <a:srgbClr val="EFE5CF">
              <a:alpha val="4000"/>
            </a:srgbClr>
          </a:solidFill>
          <a:ln w="9525">
            <a:solidFill>
              <a:srgbClr val="EFE5CF">
                <a:alpha val="2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52525" y="5021461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234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· Заземление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52525" y="5326261"/>
            <a:ext cx="4846511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Лес</a:t>
            </a:r>
            <a:endParaRPr lang="en-US" sz="7200" dirty="0"/>
          </a:p>
        </p:txBody>
      </p:sp>
      <p:sp>
        <p:nvSpPr>
          <p:cNvPr id="11" name="Text 7"/>
          <p:cNvSpPr/>
          <p:nvPr/>
        </p:nvSpPr>
        <p:spPr>
          <a:xfrm>
            <a:off x="1152525" y="6282556"/>
            <a:ext cx="484651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мох · хвоя · влажная земля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1152525" y="6806431"/>
            <a:ext cx="470535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1152525" y="6968356"/>
            <a:ext cx="4846511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00" spc="126" kern="0" dirty="0">
                <a:solidFill>
                  <a:srgbClr val="EFE5CF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ПАПОРОТНИК · КЕДР ДОЖДЬ · КОРА ШЕЛЕСТ ЛИСТВЫ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1152525" y="8520113"/>
            <a:ext cx="1329110" cy="290513"/>
          </a:xfrm>
          <a:prstGeom prst="rect">
            <a:avLst/>
          </a:prstGeom>
          <a:ln w="9525">
            <a:solidFill>
              <a:srgbClr val="EFE5CF">
                <a:alpha val="2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276350" y="8586788"/>
            <a:ext cx="1157660" cy="19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РАЗРАБОТКЕ</a:t>
            </a:r>
            <a:endParaRPr lang="en-US" sz="825" dirty="0"/>
          </a:p>
        </p:txBody>
      </p:sp>
      <p:sp>
        <p:nvSpPr>
          <p:cNvPr id="16" name="Shape 12"/>
          <p:cNvSpPr/>
          <p:nvPr/>
        </p:nvSpPr>
        <p:spPr>
          <a:xfrm>
            <a:off x="6496050" y="4669036"/>
            <a:ext cx="5295900" cy="4494014"/>
          </a:xfrm>
          <a:prstGeom prst="rect">
            <a:avLst/>
          </a:prstGeom>
          <a:solidFill>
            <a:srgbClr val="EFE5CF">
              <a:alpha val="4000"/>
            </a:srgbClr>
          </a:solidFill>
          <a:ln w="9525">
            <a:solidFill>
              <a:srgbClr val="EFE5CF">
                <a:alpha val="2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791325" y="5021461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234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 · Отпускание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791325" y="5326261"/>
            <a:ext cx="4846511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Море</a:t>
            </a:r>
            <a:endParaRPr lang="en-US" sz="7200" dirty="0"/>
          </a:p>
        </p:txBody>
      </p:sp>
      <p:sp>
        <p:nvSpPr>
          <p:cNvPr id="19" name="Text 15"/>
          <p:cNvSpPr/>
          <p:nvPr/>
        </p:nvSpPr>
        <p:spPr>
          <a:xfrm>
            <a:off x="6791325" y="6282556"/>
            <a:ext cx="484651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соль · озон · минералы</a:t>
            </a:r>
            <a:endParaRPr lang="en-US" sz="1650" dirty="0"/>
          </a:p>
        </p:txBody>
      </p:sp>
      <p:sp>
        <p:nvSpPr>
          <p:cNvPr id="20" name="Shape 16"/>
          <p:cNvSpPr/>
          <p:nvPr/>
        </p:nvSpPr>
        <p:spPr>
          <a:xfrm>
            <a:off x="6791325" y="6806431"/>
            <a:ext cx="470535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6791325" y="6968356"/>
            <a:ext cx="4846511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00" spc="126" kern="0" dirty="0">
                <a:solidFill>
                  <a:srgbClr val="EFE5CF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БРИЗ · ВОДОРОСЛИ ПЕСОК · ЗАКАТ ПРИБОЙ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791325" y="8520113"/>
            <a:ext cx="1058763" cy="290513"/>
          </a:xfrm>
          <a:prstGeom prst="rect">
            <a:avLst/>
          </a:prstGeom>
          <a:ln w="9525">
            <a:solidFill>
              <a:srgbClr val="EFE5CF">
                <a:alpha val="2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915150" y="8586788"/>
            <a:ext cx="887313" cy="19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ЛЕТО 2026</a:t>
            </a:r>
            <a:endParaRPr lang="en-US" sz="825" dirty="0"/>
          </a:p>
        </p:txBody>
      </p:sp>
      <p:sp>
        <p:nvSpPr>
          <p:cNvPr id="24" name="Shape 20"/>
          <p:cNvSpPr/>
          <p:nvPr/>
        </p:nvSpPr>
        <p:spPr>
          <a:xfrm>
            <a:off x="12134850" y="4669036"/>
            <a:ext cx="5295900" cy="4494014"/>
          </a:xfrm>
          <a:prstGeom prst="rect">
            <a:avLst/>
          </a:prstGeom>
          <a:solidFill>
            <a:srgbClr val="EFE5CF">
              <a:alpha val="4000"/>
            </a:srgbClr>
          </a:solidFill>
          <a:ln w="9525">
            <a:solidFill>
              <a:srgbClr val="EFE5CF">
                <a:alpha val="20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2430125" y="5021461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234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 · Ясность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2430125" y="5326261"/>
            <a:ext cx="4846511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Горы</a:t>
            </a:r>
            <a:endParaRPr lang="en-US" sz="7200" dirty="0"/>
          </a:p>
        </p:txBody>
      </p:sp>
      <p:sp>
        <p:nvSpPr>
          <p:cNvPr id="27" name="Text 23"/>
          <p:cNvSpPr/>
          <p:nvPr/>
        </p:nvSpPr>
        <p:spPr>
          <a:xfrm>
            <a:off x="12430125" y="6282556"/>
            <a:ext cx="484651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камень · древесина · лава</a:t>
            </a:r>
            <a:endParaRPr lang="en-US" sz="1650" dirty="0"/>
          </a:p>
        </p:txBody>
      </p:sp>
      <p:sp>
        <p:nvSpPr>
          <p:cNvPr id="28" name="Shape 24"/>
          <p:cNvSpPr/>
          <p:nvPr/>
        </p:nvSpPr>
        <p:spPr>
          <a:xfrm>
            <a:off x="12430125" y="6806431"/>
            <a:ext cx="470535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9" name="Text 25"/>
          <p:cNvSpPr/>
          <p:nvPr/>
        </p:nvSpPr>
        <p:spPr>
          <a:xfrm>
            <a:off x="12430125" y="6968356"/>
            <a:ext cx="4846511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00" spc="126" kern="0" dirty="0">
                <a:solidFill>
                  <a:srgbClr val="EFE5CF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МОЖЖЕВЕЛЬНИК · ПИХТА ХОЛОДНЫЙ ВОЗДУХ ЗАСТЫВШАЯ ЛАВА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12430125" y="8539163"/>
            <a:ext cx="2121098" cy="271463"/>
          </a:xfrm>
          <a:prstGeom prst="rect">
            <a:avLst/>
          </a:prstGeom>
          <a:solidFill>
            <a:srgbClr val="D28A55"/>
          </a:solidFill>
          <a:ln/>
        </p:spPr>
      </p:sp>
      <p:sp>
        <p:nvSpPr>
          <p:cNvPr id="31" name="Text 27"/>
          <p:cNvSpPr/>
          <p:nvPr/>
        </p:nvSpPr>
        <p:spPr>
          <a:xfrm>
            <a:off x="12544425" y="8596313"/>
            <a:ext cx="196869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0F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ПРОДАЖЕ · 7 ПОЗИЦИЙ</a:t>
            </a:r>
            <a:endParaRPr lang="en-US" sz="825" dirty="0"/>
          </a:p>
        </p:txBody>
      </p:sp>
      <p:sp>
        <p:nvSpPr>
          <p:cNvPr id="32" name="Shape 28"/>
          <p:cNvSpPr/>
          <p:nvPr/>
        </p:nvSpPr>
        <p:spPr>
          <a:xfrm>
            <a:off x="857250" y="9163050"/>
            <a:ext cx="1657350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33" name="Text 29"/>
          <p:cNvSpPr/>
          <p:nvPr/>
        </p:nvSpPr>
        <p:spPr>
          <a:xfrm>
            <a:off x="857250" y="9401175"/>
            <a:ext cx="292866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БИОМ · РАЗВЕТВЛЕНИЕ МАРШРУТА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ДАЛЬШЕ — СЕРИЯ «ГОРЫ»</a:t>
            </a:r>
            <a:endParaRPr lang="en-US" sz="975" dirty="0"/>
          </a:p>
        </p:txBody>
      </p:sp>
      <p:sp>
        <p:nvSpPr>
          <p:cNvPr id="34" name="Text 30"/>
          <p:cNvSpPr/>
          <p:nvPr/>
        </p:nvSpPr>
        <p:spPr>
          <a:xfrm>
            <a:off x="4157811" y="9401175"/>
            <a:ext cx="9901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ОСТАНОВКА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05 — СТИХИИ</a:t>
            </a:r>
            <a:endParaRPr lang="en-US" sz="975" dirty="0"/>
          </a:p>
        </p:txBody>
      </p:sp>
      <p:sp>
        <p:nvSpPr>
          <p:cNvPr id="35" name="Text 31"/>
          <p:cNvSpPr/>
          <p:nvPr/>
        </p:nvSpPr>
        <p:spPr>
          <a:xfrm>
            <a:off x="15196617" y="9644063"/>
            <a:ext cx="231033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СЕРИЯ «ГОРЫ» — ВПЕРЕДИ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857250" y="457200"/>
            <a:ext cx="361950" cy="361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2550" y="538163"/>
            <a:ext cx="7963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3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14915406" y="457200"/>
            <a:ext cx="259154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31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15 — КАТАЛОГ · №01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857250" y="1181100"/>
            <a:ext cx="8196114" cy="7810500"/>
          </a:xfrm>
          <a:prstGeom prst="rect">
            <a:avLst/>
          </a:prstGeom>
          <a:solidFill>
            <a:srgbClr val="EFE5CF">
              <a:alpha val="4000"/>
            </a:srgbClr>
          </a:solidFill>
          <a:ln w="9525">
            <a:solidFill>
              <a:srgbClr val="EFE5CF">
                <a:alpha val="10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019175" y="1343025"/>
            <a:ext cx="1662113" cy="342900"/>
          </a:xfrm>
          <a:prstGeom prst="rect">
            <a:avLst/>
          </a:prstGeom>
          <a:solidFill>
            <a:srgbClr val="0F1410"/>
          </a:solidFill>
          <a:ln w="9525">
            <a:solidFill>
              <a:srgbClr val="EFE5CF">
                <a:alpha val="2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62050" y="1428750"/>
            <a:ext cx="145256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234" kern="0" dirty="0">
                <a:solidFill>
                  <a:srgbClr val="EFE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№ 01 · Fig. 02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6775" y="1190625"/>
            <a:ext cx="8177064" cy="779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24864" y="1932831"/>
            <a:ext cx="804006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54" kern="0" dirty="0">
                <a:solidFill>
                  <a:srgbClr val="A8C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ГОРЫ · НЕИЗВЕДАННЫЕ ТРОПЫ СВОБОДЫ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9624864" y="2328118"/>
            <a:ext cx="8040063" cy="198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87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Квадратная. Контейнерная.</a:t>
            </a:r>
            <a:endParaRPr lang="en-US" sz="8700" dirty="0"/>
          </a:p>
        </p:txBody>
      </p:sp>
      <p:sp>
        <p:nvSpPr>
          <p:cNvPr id="12" name="Text 7"/>
          <p:cNvSpPr/>
          <p:nvPr/>
        </p:nvSpPr>
        <p:spPr>
          <a:xfrm>
            <a:off x="9624864" y="4406057"/>
            <a:ext cx="804006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Гипсовый куб с крапчатой фактурой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9624864" y="5006132"/>
            <a:ext cx="3986077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Тяжёлая, фактурная, будто срез лавового камня. Тёплый аромат: кедр, можжевельник, лёгкая дымка. Свеча, рядом с которой хочется молчать.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9624864" y="6358682"/>
            <a:ext cx="7805886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9624864" y="7239744"/>
            <a:ext cx="2601962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9624864" y="6539657"/>
            <a:ext cx="25067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</a:t>
            </a:r>
            <a:endParaRPr lang="en-US" sz="825" dirty="0"/>
          </a:p>
        </p:txBody>
      </p:sp>
      <p:sp>
        <p:nvSpPr>
          <p:cNvPr id="17" name="Text 12"/>
          <p:cNvSpPr/>
          <p:nvPr/>
        </p:nvSpPr>
        <p:spPr>
          <a:xfrm>
            <a:off x="9624864" y="6753969"/>
            <a:ext cx="25067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Контейнерная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12226826" y="7239744"/>
            <a:ext cx="2601962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12226826" y="6539657"/>
            <a:ext cx="25067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МАТЕРИАЛ</a:t>
            </a:r>
            <a:endParaRPr lang="en-US" sz="825" dirty="0"/>
          </a:p>
        </p:txBody>
      </p:sp>
      <p:sp>
        <p:nvSpPr>
          <p:cNvPr id="20" name="Text 15"/>
          <p:cNvSpPr/>
          <p:nvPr/>
        </p:nvSpPr>
        <p:spPr>
          <a:xfrm>
            <a:off x="12226826" y="6753969"/>
            <a:ext cx="25067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Гипс · воск</a:t>
            </a:r>
            <a:endParaRPr lang="en-US" sz="1650" dirty="0"/>
          </a:p>
        </p:txBody>
      </p:sp>
      <p:sp>
        <p:nvSpPr>
          <p:cNvPr id="21" name="Shape 16"/>
          <p:cNvSpPr/>
          <p:nvPr/>
        </p:nvSpPr>
        <p:spPr>
          <a:xfrm>
            <a:off x="14828788" y="7239744"/>
            <a:ext cx="2601962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14828788" y="6539657"/>
            <a:ext cx="25067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КРЫШКА</a:t>
            </a:r>
            <a:endParaRPr lang="en-US" sz="825" dirty="0"/>
          </a:p>
        </p:txBody>
      </p:sp>
      <p:sp>
        <p:nvSpPr>
          <p:cNvPr id="23" name="Text 18"/>
          <p:cNvSpPr/>
          <p:nvPr/>
        </p:nvSpPr>
        <p:spPr>
          <a:xfrm>
            <a:off x="14828788" y="6753969"/>
            <a:ext cx="25067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Универсальная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9624864" y="7554069"/>
            <a:ext cx="174448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1 800 </a:t>
            </a:r>
            <a:pPr algn="l" indent="0" marL="0">
              <a:lnSpc>
                <a:spcPct val="100000"/>
              </a:lnSpc>
              <a:buNone/>
            </a:pPr>
            <a:r>
              <a:rPr lang="en-US" sz="243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₽</a:t>
            </a:r>
            <a:endParaRPr lang="en-US" sz="5400" dirty="0"/>
          </a:p>
        </p:txBody>
      </p:sp>
      <p:sp>
        <p:nvSpPr>
          <p:cNvPr id="25" name="Shape 20"/>
          <p:cNvSpPr/>
          <p:nvPr/>
        </p:nvSpPr>
        <p:spPr>
          <a:xfrm>
            <a:off x="11674153" y="8216057"/>
            <a:ext cx="1704082" cy="9525"/>
          </a:xfrm>
          <a:prstGeom prst="rect">
            <a:avLst/>
          </a:prstGeom>
          <a:solidFill>
            <a:srgbClr val="D28A55"/>
          </a:solidFill>
          <a:ln/>
        </p:spPr>
      </p:sp>
      <p:sp>
        <p:nvSpPr>
          <p:cNvPr id="26" name="Text 21"/>
          <p:cNvSpPr/>
          <p:nvPr/>
        </p:nvSpPr>
        <p:spPr>
          <a:xfrm>
            <a:off x="11674153" y="7992219"/>
            <a:ext cx="1780282" cy="223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54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ОБСУДИТЬ ЗАКАЗ →</a:t>
            </a:r>
            <a:endParaRPr lang="en-US" sz="975" dirty="0"/>
          </a:p>
        </p:txBody>
      </p:sp>
      <p:sp>
        <p:nvSpPr>
          <p:cNvPr id="27" name="Shape 22"/>
          <p:cNvSpPr/>
          <p:nvPr/>
        </p:nvSpPr>
        <p:spPr>
          <a:xfrm>
            <a:off x="857250" y="9163050"/>
            <a:ext cx="1657350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857250" y="9401175"/>
            <a:ext cx="110274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ПОДНОЖИЕ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«ТРОПЫ СВОБОДЫ»</a:t>
            </a:r>
            <a:endParaRPr lang="en-US" sz="975" dirty="0"/>
          </a:p>
        </p:txBody>
      </p:sp>
      <p:sp>
        <p:nvSpPr>
          <p:cNvPr id="29" name="Text 24"/>
          <p:cNvSpPr/>
          <p:nvPr/>
        </p:nvSpPr>
        <p:spPr>
          <a:xfrm>
            <a:off x="2340992" y="9401175"/>
            <a:ext cx="9901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ОСТАНОВКА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06 — №01</a:t>
            </a:r>
            <a:endParaRPr lang="en-US" sz="975" dirty="0"/>
          </a:p>
        </p:txBody>
      </p:sp>
      <p:sp>
        <p:nvSpPr>
          <p:cNvPr id="30" name="Text 25"/>
          <p:cNvSpPr/>
          <p:nvPr/>
        </p:nvSpPr>
        <p:spPr>
          <a:xfrm>
            <a:off x="15501268" y="9644063"/>
            <a:ext cx="200568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7 ПОЗИЦИЙ СЕРИИ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857250" y="457200"/>
            <a:ext cx="361950" cy="361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2550" y="538163"/>
            <a:ext cx="7963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3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14915406" y="457200"/>
            <a:ext cx="259154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31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15 — КАТАЛОГ · №02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9234562" y="1181100"/>
            <a:ext cx="8196188" cy="7810500"/>
          </a:xfrm>
          <a:prstGeom prst="rect">
            <a:avLst/>
          </a:prstGeom>
          <a:solidFill>
            <a:srgbClr val="EFE5CF">
              <a:alpha val="4000"/>
            </a:srgbClr>
          </a:solidFill>
          <a:ln w="9525">
            <a:solidFill>
              <a:srgbClr val="EFE5CF">
                <a:alpha val="10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396487" y="1343025"/>
            <a:ext cx="1662113" cy="342900"/>
          </a:xfrm>
          <a:prstGeom prst="rect">
            <a:avLst/>
          </a:prstGeom>
          <a:solidFill>
            <a:srgbClr val="0F1410"/>
          </a:solidFill>
          <a:ln w="9525">
            <a:solidFill>
              <a:srgbClr val="EFE5CF">
                <a:alpha val="2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539362" y="1428750"/>
            <a:ext cx="145256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234" kern="0" dirty="0">
                <a:solidFill>
                  <a:srgbClr val="EFE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№ 02 · Fig. 03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44087" y="1190625"/>
            <a:ext cx="8177138" cy="779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7250" y="1932831"/>
            <a:ext cx="803998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54" kern="0" dirty="0">
                <a:solidFill>
                  <a:srgbClr val="A8C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ГОРЫ · НЕИЗВЕДАННЫЕ ТРОПЫ СВОБОДЫ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857250" y="2328118"/>
            <a:ext cx="8039986" cy="198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87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Круглая. Контейнерная.</a:t>
            </a:r>
            <a:endParaRPr lang="en-US" sz="8700" dirty="0"/>
          </a:p>
        </p:txBody>
      </p:sp>
      <p:sp>
        <p:nvSpPr>
          <p:cNvPr id="12" name="Text 7"/>
          <p:cNvSpPr/>
          <p:nvPr/>
        </p:nvSpPr>
        <p:spPr>
          <a:xfrm>
            <a:off x="857250" y="4406057"/>
            <a:ext cx="803998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Старшая сестра квадратной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857250" y="5006132"/>
            <a:ext cx="3986077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Тот же камень, чуть шире. Объём горит ровнее и дольше — ритуал получается длиннее. Для тех, кто зажигает свечу на весь вечер.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857250" y="6358682"/>
            <a:ext cx="7805812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857250" y="7239744"/>
            <a:ext cx="2601888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857250" y="6539657"/>
            <a:ext cx="250663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</a:t>
            </a:r>
            <a:endParaRPr lang="en-US" sz="825" dirty="0"/>
          </a:p>
        </p:txBody>
      </p:sp>
      <p:sp>
        <p:nvSpPr>
          <p:cNvPr id="17" name="Text 12"/>
          <p:cNvSpPr/>
          <p:nvPr/>
        </p:nvSpPr>
        <p:spPr>
          <a:xfrm>
            <a:off x="857250" y="6753969"/>
            <a:ext cx="25066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Контейнерная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3459138" y="7239744"/>
            <a:ext cx="2601962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3459138" y="6539657"/>
            <a:ext cx="25067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ФОРМА</a:t>
            </a:r>
            <a:endParaRPr lang="en-US" sz="825" dirty="0"/>
          </a:p>
        </p:txBody>
      </p:sp>
      <p:sp>
        <p:nvSpPr>
          <p:cNvPr id="20" name="Text 15"/>
          <p:cNvSpPr/>
          <p:nvPr/>
        </p:nvSpPr>
        <p:spPr>
          <a:xfrm>
            <a:off x="3459138" y="6753969"/>
            <a:ext cx="25067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Цилиндр</a:t>
            </a:r>
            <a:endParaRPr lang="en-US" sz="1650" dirty="0"/>
          </a:p>
        </p:txBody>
      </p:sp>
      <p:sp>
        <p:nvSpPr>
          <p:cNvPr id="21" name="Shape 16"/>
          <p:cNvSpPr/>
          <p:nvPr/>
        </p:nvSpPr>
        <p:spPr>
          <a:xfrm>
            <a:off x="6061100" y="7239744"/>
            <a:ext cx="2601962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6061100" y="6539657"/>
            <a:ext cx="25067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ГОРЕНИЕ</a:t>
            </a:r>
            <a:endParaRPr lang="en-US" sz="825" dirty="0"/>
          </a:p>
        </p:txBody>
      </p:sp>
      <p:sp>
        <p:nvSpPr>
          <p:cNvPr id="23" name="Text 18"/>
          <p:cNvSpPr/>
          <p:nvPr/>
        </p:nvSpPr>
        <p:spPr>
          <a:xfrm>
            <a:off x="6061100" y="6753969"/>
            <a:ext cx="25067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Длительное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857250" y="7554069"/>
            <a:ext cx="1784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2 000 </a:t>
            </a:r>
            <a:pPr algn="l" indent="0" marL="0">
              <a:lnSpc>
                <a:spcPct val="100000"/>
              </a:lnSpc>
              <a:buNone/>
            </a:pPr>
            <a:r>
              <a:rPr lang="en-US" sz="243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₽</a:t>
            </a:r>
            <a:endParaRPr lang="en-US" sz="5400" dirty="0"/>
          </a:p>
        </p:txBody>
      </p:sp>
      <p:sp>
        <p:nvSpPr>
          <p:cNvPr id="25" name="Shape 20"/>
          <p:cNvSpPr/>
          <p:nvPr/>
        </p:nvSpPr>
        <p:spPr>
          <a:xfrm>
            <a:off x="2946350" y="8216057"/>
            <a:ext cx="1704082" cy="9525"/>
          </a:xfrm>
          <a:prstGeom prst="rect">
            <a:avLst/>
          </a:prstGeom>
          <a:solidFill>
            <a:srgbClr val="D28A55"/>
          </a:solidFill>
          <a:ln/>
        </p:spPr>
      </p:sp>
      <p:sp>
        <p:nvSpPr>
          <p:cNvPr id="26" name="Text 21"/>
          <p:cNvSpPr/>
          <p:nvPr/>
        </p:nvSpPr>
        <p:spPr>
          <a:xfrm>
            <a:off x="2946350" y="7992219"/>
            <a:ext cx="1780282" cy="223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54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ОБСУДИТЬ ЗАКАЗ →</a:t>
            </a:r>
            <a:endParaRPr lang="en-US" sz="975" dirty="0"/>
          </a:p>
        </p:txBody>
      </p:sp>
      <p:sp>
        <p:nvSpPr>
          <p:cNvPr id="27" name="Shape 22"/>
          <p:cNvSpPr/>
          <p:nvPr/>
        </p:nvSpPr>
        <p:spPr>
          <a:xfrm>
            <a:off x="857250" y="9163050"/>
            <a:ext cx="1657350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857250" y="9401175"/>
            <a:ext cx="119330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ЮЖНЫЙ СКЛОН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«ТРОПЫ СВОБОДЫ»</a:t>
            </a:r>
            <a:endParaRPr lang="en-US" sz="975" dirty="0"/>
          </a:p>
        </p:txBody>
      </p:sp>
      <p:sp>
        <p:nvSpPr>
          <p:cNvPr id="29" name="Text 24"/>
          <p:cNvSpPr/>
          <p:nvPr/>
        </p:nvSpPr>
        <p:spPr>
          <a:xfrm>
            <a:off x="2431554" y="9401175"/>
            <a:ext cx="9901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ОСТАНОВКА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07 — №02</a:t>
            </a:r>
            <a:endParaRPr lang="en-US" sz="975" dirty="0"/>
          </a:p>
        </p:txBody>
      </p:sp>
      <p:sp>
        <p:nvSpPr>
          <p:cNvPr id="30" name="Text 25"/>
          <p:cNvSpPr/>
          <p:nvPr/>
        </p:nvSpPr>
        <p:spPr>
          <a:xfrm>
            <a:off x="15501268" y="9644063"/>
            <a:ext cx="200568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7 ПОЗИЦИЙ СЕРИИ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857250" y="457200"/>
            <a:ext cx="361950" cy="361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2550" y="538163"/>
            <a:ext cx="7963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3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14915406" y="457200"/>
            <a:ext cx="259154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31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15 — КАТАЛОГ · №03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857250" y="1181100"/>
            <a:ext cx="8196114" cy="7810500"/>
          </a:xfrm>
          <a:prstGeom prst="rect">
            <a:avLst/>
          </a:prstGeom>
          <a:solidFill>
            <a:srgbClr val="EFE5CF">
              <a:alpha val="4000"/>
            </a:srgbClr>
          </a:solidFill>
          <a:ln w="9525">
            <a:solidFill>
              <a:srgbClr val="EFE5CF">
                <a:alpha val="10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019175" y="1343025"/>
            <a:ext cx="1662113" cy="342900"/>
          </a:xfrm>
          <a:prstGeom prst="rect">
            <a:avLst/>
          </a:prstGeom>
          <a:solidFill>
            <a:srgbClr val="0F1410"/>
          </a:solidFill>
          <a:ln w="9525">
            <a:solidFill>
              <a:srgbClr val="EFE5CF">
                <a:alpha val="2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62050" y="1428750"/>
            <a:ext cx="145256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234" kern="0" dirty="0">
                <a:solidFill>
                  <a:srgbClr val="EFE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№ 03 · Fig. 04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6775" y="1190625"/>
            <a:ext cx="8177064" cy="779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24864" y="1446684"/>
            <a:ext cx="804006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54" kern="0" dirty="0">
                <a:solidFill>
                  <a:srgbClr val="A8C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ГОРЫ · МОГУЩЕСТВЕННЫЙ ПОКОЙ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9624864" y="1841971"/>
            <a:ext cx="8040063" cy="295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87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Покой застывшей лавы.</a:t>
            </a:r>
            <a:endParaRPr lang="en-US" sz="8700" dirty="0"/>
          </a:p>
        </p:txBody>
      </p:sp>
      <p:sp>
        <p:nvSpPr>
          <p:cNvPr id="12" name="Text 7"/>
          <p:cNvSpPr/>
          <p:nvPr/>
        </p:nvSpPr>
        <p:spPr>
          <a:xfrm>
            <a:off x="9624864" y="4892204"/>
            <a:ext cx="804006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Минеральный, чуть дымный профиль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9624864" y="5492279"/>
            <a:ext cx="3986077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Камень, который уже остыл, но всё ещё помнит огонь. Свеча для длинных разговоров с самим собой — и для вечеров после слишком громкого дня.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9624864" y="6844829"/>
            <a:ext cx="7805886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9624864" y="7725891"/>
            <a:ext cx="2601962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9624864" y="7025804"/>
            <a:ext cx="25067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ПРОФИЛЬ</a:t>
            </a:r>
            <a:endParaRPr lang="en-US" sz="825" dirty="0"/>
          </a:p>
        </p:txBody>
      </p:sp>
      <p:sp>
        <p:nvSpPr>
          <p:cNvPr id="17" name="Text 12"/>
          <p:cNvSpPr/>
          <p:nvPr/>
        </p:nvSpPr>
        <p:spPr>
          <a:xfrm>
            <a:off x="9624864" y="7240116"/>
            <a:ext cx="25067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Минеральный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12226826" y="7725891"/>
            <a:ext cx="2601962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12226826" y="7025804"/>
            <a:ext cx="25067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ДЫМКА</a:t>
            </a:r>
            <a:endParaRPr lang="en-US" sz="825" dirty="0"/>
          </a:p>
        </p:txBody>
      </p:sp>
      <p:sp>
        <p:nvSpPr>
          <p:cNvPr id="20" name="Text 15"/>
          <p:cNvSpPr/>
          <p:nvPr/>
        </p:nvSpPr>
        <p:spPr>
          <a:xfrm>
            <a:off x="12226826" y="7240116"/>
            <a:ext cx="25067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Лёгкая</a:t>
            </a:r>
            <a:endParaRPr lang="en-US" sz="1650" dirty="0"/>
          </a:p>
        </p:txBody>
      </p:sp>
      <p:sp>
        <p:nvSpPr>
          <p:cNvPr id="21" name="Shape 16"/>
          <p:cNvSpPr/>
          <p:nvPr/>
        </p:nvSpPr>
        <p:spPr>
          <a:xfrm>
            <a:off x="14828788" y="7725891"/>
            <a:ext cx="2601962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14828788" y="7025804"/>
            <a:ext cx="25067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НАСТРОЕНИЕ</a:t>
            </a:r>
            <a:endParaRPr lang="en-US" sz="825" dirty="0"/>
          </a:p>
        </p:txBody>
      </p:sp>
      <p:sp>
        <p:nvSpPr>
          <p:cNvPr id="23" name="Text 18"/>
          <p:cNvSpPr/>
          <p:nvPr/>
        </p:nvSpPr>
        <p:spPr>
          <a:xfrm>
            <a:off x="14828788" y="7240116"/>
            <a:ext cx="25067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Глубокое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9624864" y="8040216"/>
            <a:ext cx="174448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1 800 </a:t>
            </a:r>
            <a:pPr algn="l" indent="0" marL="0">
              <a:lnSpc>
                <a:spcPct val="100000"/>
              </a:lnSpc>
              <a:buNone/>
            </a:pPr>
            <a:r>
              <a:rPr lang="en-US" sz="243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₽</a:t>
            </a:r>
            <a:endParaRPr lang="en-US" sz="5400" dirty="0"/>
          </a:p>
        </p:txBody>
      </p:sp>
      <p:sp>
        <p:nvSpPr>
          <p:cNvPr id="25" name="Shape 20"/>
          <p:cNvSpPr/>
          <p:nvPr/>
        </p:nvSpPr>
        <p:spPr>
          <a:xfrm>
            <a:off x="11674153" y="8702204"/>
            <a:ext cx="1704082" cy="9525"/>
          </a:xfrm>
          <a:prstGeom prst="rect">
            <a:avLst/>
          </a:prstGeom>
          <a:solidFill>
            <a:srgbClr val="D28A55"/>
          </a:solidFill>
          <a:ln/>
        </p:spPr>
      </p:sp>
      <p:sp>
        <p:nvSpPr>
          <p:cNvPr id="26" name="Text 21"/>
          <p:cNvSpPr/>
          <p:nvPr/>
        </p:nvSpPr>
        <p:spPr>
          <a:xfrm>
            <a:off x="11674153" y="8478366"/>
            <a:ext cx="1780282" cy="223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54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ОБСУДИТЬ ЗАКАЗ →</a:t>
            </a:r>
            <a:endParaRPr lang="en-US" sz="975" dirty="0"/>
          </a:p>
        </p:txBody>
      </p:sp>
      <p:sp>
        <p:nvSpPr>
          <p:cNvPr id="27" name="Shape 22"/>
          <p:cNvSpPr/>
          <p:nvPr/>
        </p:nvSpPr>
        <p:spPr>
          <a:xfrm>
            <a:off x="857250" y="9163050"/>
            <a:ext cx="1657350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857250" y="9401175"/>
            <a:ext cx="93836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КРАТЕР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«ПОКОЙ ЛАВЫ»</a:t>
            </a:r>
            <a:endParaRPr lang="en-US" sz="975" dirty="0"/>
          </a:p>
        </p:txBody>
      </p:sp>
      <p:sp>
        <p:nvSpPr>
          <p:cNvPr id="29" name="Text 24"/>
          <p:cNvSpPr/>
          <p:nvPr/>
        </p:nvSpPr>
        <p:spPr>
          <a:xfrm>
            <a:off x="2176611" y="9401175"/>
            <a:ext cx="9901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ОСТАНОВКА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08 — №03</a:t>
            </a:r>
            <a:endParaRPr lang="en-US" sz="975" dirty="0"/>
          </a:p>
        </p:txBody>
      </p:sp>
      <p:sp>
        <p:nvSpPr>
          <p:cNvPr id="30" name="Text 25"/>
          <p:cNvSpPr/>
          <p:nvPr/>
        </p:nvSpPr>
        <p:spPr>
          <a:xfrm>
            <a:off x="15501268" y="9644063"/>
            <a:ext cx="200568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7 ПОЗИЦИЙ СЕРИИ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857250" y="457200"/>
            <a:ext cx="361950" cy="361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2550" y="538163"/>
            <a:ext cx="7963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3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14915406" y="457200"/>
            <a:ext cx="259154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31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15 — КАТАЛОГ · №04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9234562" y="1181100"/>
            <a:ext cx="8196188" cy="7810500"/>
          </a:xfrm>
          <a:prstGeom prst="rect">
            <a:avLst/>
          </a:prstGeom>
          <a:solidFill>
            <a:srgbClr val="EFE5CF">
              <a:alpha val="4000"/>
            </a:srgbClr>
          </a:solidFill>
          <a:ln w="9525">
            <a:solidFill>
              <a:srgbClr val="EFE5CF">
                <a:alpha val="10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396487" y="1343025"/>
            <a:ext cx="1662113" cy="342900"/>
          </a:xfrm>
          <a:prstGeom prst="rect">
            <a:avLst/>
          </a:prstGeom>
          <a:solidFill>
            <a:srgbClr val="0F1410"/>
          </a:solidFill>
          <a:ln w="9525">
            <a:solidFill>
              <a:srgbClr val="EFE5CF">
                <a:alpha val="2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539362" y="1428750"/>
            <a:ext cx="145256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234" kern="0" dirty="0">
                <a:solidFill>
                  <a:srgbClr val="EFE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№ 04 · Fig. 05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44087" y="1190625"/>
            <a:ext cx="4059957" cy="779145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3361194" y="1190625"/>
            <a:ext cx="4060031" cy="779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57250" y="1932831"/>
            <a:ext cx="803998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54" kern="0" dirty="0">
                <a:solidFill>
                  <a:srgbClr val="A8C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ГОРЫ · НЕИЗВЕДАННЫЕ ТРОПЫ СВОБОДЫ</a:t>
            </a:r>
            <a:endParaRPr lang="en-US" sz="975" dirty="0"/>
          </a:p>
        </p:txBody>
      </p:sp>
      <p:sp>
        <p:nvSpPr>
          <p:cNvPr id="12" name="Text 6"/>
          <p:cNvSpPr/>
          <p:nvPr/>
        </p:nvSpPr>
        <p:spPr>
          <a:xfrm>
            <a:off x="857250" y="2328118"/>
            <a:ext cx="8039986" cy="198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87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Каменная пирамида ×2.</a:t>
            </a:r>
            <a:endParaRPr lang="en-US" sz="8700" dirty="0"/>
          </a:p>
        </p:txBody>
      </p:sp>
      <p:sp>
        <p:nvSpPr>
          <p:cNvPr id="13" name="Text 7"/>
          <p:cNvSpPr/>
          <p:nvPr/>
        </p:nvSpPr>
        <p:spPr>
          <a:xfrm>
            <a:off x="857250" y="4406057"/>
            <a:ext cx="803998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Как горный тур на тропе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857250" y="5006132"/>
            <a:ext cx="3986077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Две контейнерные свечи, поставленные одна на другую. Универсальная крышка подходит к обеим — самая «архитектурная» позиция серии.</a:t>
            </a:r>
            <a:endParaRPr lang="en-US" sz="1425" dirty="0"/>
          </a:p>
        </p:txBody>
      </p:sp>
      <p:sp>
        <p:nvSpPr>
          <p:cNvPr id="15" name="Shape 9"/>
          <p:cNvSpPr/>
          <p:nvPr/>
        </p:nvSpPr>
        <p:spPr>
          <a:xfrm>
            <a:off x="857250" y="6358682"/>
            <a:ext cx="7805812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6" name="Shape 10"/>
          <p:cNvSpPr/>
          <p:nvPr/>
        </p:nvSpPr>
        <p:spPr>
          <a:xfrm>
            <a:off x="857250" y="7239744"/>
            <a:ext cx="2601888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857250" y="6539657"/>
            <a:ext cx="250663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СОСТАВ</a:t>
            </a:r>
            <a:endParaRPr lang="en-US" sz="825" dirty="0"/>
          </a:p>
        </p:txBody>
      </p:sp>
      <p:sp>
        <p:nvSpPr>
          <p:cNvPr id="18" name="Text 12"/>
          <p:cNvSpPr/>
          <p:nvPr/>
        </p:nvSpPr>
        <p:spPr>
          <a:xfrm>
            <a:off x="857250" y="6753969"/>
            <a:ext cx="25066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 свечи</a:t>
            </a:r>
            <a:endParaRPr lang="en-US" sz="1650" dirty="0"/>
          </a:p>
        </p:txBody>
      </p:sp>
      <p:sp>
        <p:nvSpPr>
          <p:cNvPr id="19" name="Shape 13"/>
          <p:cNvSpPr/>
          <p:nvPr/>
        </p:nvSpPr>
        <p:spPr>
          <a:xfrm>
            <a:off x="3459138" y="7239744"/>
            <a:ext cx="2601962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0" name="Text 14"/>
          <p:cNvSpPr/>
          <p:nvPr/>
        </p:nvSpPr>
        <p:spPr>
          <a:xfrm>
            <a:off x="3459138" y="6539657"/>
            <a:ext cx="25067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КРЫШКА</a:t>
            </a:r>
            <a:endParaRPr lang="en-US" sz="825" dirty="0"/>
          </a:p>
        </p:txBody>
      </p:sp>
      <p:sp>
        <p:nvSpPr>
          <p:cNvPr id="21" name="Text 15"/>
          <p:cNvSpPr/>
          <p:nvPr/>
        </p:nvSpPr>
        <p:spPr>
          <a:xfrm>
            <a:off x="3459138" y="6753969"/>
            <a:ext cx="25067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Универсальная</a:t>
            </a:r>
            <a:endParaRPr lang="en-US" sz="1650" dirty="0"/>
          </a:p>
        </p:txBody>
      </p:sp>
      <p:sp>
        <p:nvSpPr>
          <p:cNvPr id="22" name="Shape 16"/>
          <p:cNvSpPr/>
          <p:nvPr/>
        </p:nvSpPr>
        <p:spPr>
          <a:xfrm>
            <a:off x="6061100" y="7239744"/>
            <a:ext cx="2601962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6061100" y="6539657"/>
            <a:ext cx="25067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ПОДАРОК</a:t>
            </a:r>
            <a:endParaRPr lang="en-US" sz="825" dirty="0"/>
          </a:p>
        </p:txBody>
      </p:sp>
      <p:sp>
        <p:nvSpPr>
          <p:cNvPr id="24" name="Text 18"/>
          <p:cNvSpPr/>
          <p:nvPr/>
        </p:nvSpPr>
        <p:spPr>
          <a:xfrm>
            <a:off x="6061100" y="6753969"/>
            <a:ext cx="25067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Да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857250" y="7554069"/>
            <a:ext cx="168964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1 500 </a:t>
            </a:r>
            <a:pPr algn="l" indent="0" marL="0">
              <a:lnSpc>
                <a:spcPct val="100000"/>
              </a:lnSpc>
              <a:buNone/>
            </a:pPr>
            <a:r>
              <a:rPr lang="en-US" sz="243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₽</a:t>
            </a:r>
            <a:endParaRPr lang="en-US" sz="5400" dirty="0"/>
          </a:p>
        </p:txBody>
      </p:sp>
      <p:sp>
        <p:nvSpPr>
          <p:cNvPr id="26" name="Shape 20"/>
          <p:cNvSpPr/>
          <p:nvPr/>
        </p:nvSpPr>
        <p:spPr>
          <a:xfrm>
            <a:off x="2851696" y="8216057"/>
            <a:ext cx="1704082" cy="9525"/>
          </a:xfrm>
          <a:prstGeom prst="rect">
            <a:avLst/>
          </a:prstGeom>
          <a:solidFill>
            <a:srgbClr val="D28A55"/>
          </a:solidFill>
          <a:ln/>
        </p:spPr>
      </p:sp>
      <p:sp>
        <p:nvSpPr>
          <p:cNvPr id="27" name="Text 21"/>
          <p:cNvSpPr/>
          <p:nvPr/>
        </p:nvSpPr>
        <p:spPr>
          <a:xfrm>
            <a:off x="2851696" y="7992219"/>
            <a:ext cx="1780282" cy="223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54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ОБСУДИТЬ ЗАКАЗ →</a:t>
            </a:r>
            <a:endParaRPr lang="en-US" sz="975" dirty="0"/>
          </a:p>
        </p:txBody>
      </p:sp>
      <p:sp>
        <p:nvSpPr>
          <p:cNvPr id="28" name="Shape 22"/>
          <p:cNvSpPr/>
          <p:nvPr/>
        </p:nvSpPr>
        <p:spPr>
          <a:xfrm>
            <a:off x="857250" y="9163050"/>
            <a:ext cx="1657350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857250" y="9401175"/>
            <a:ext cx="110274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ПЕРЕВАЛ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«ТРОПЫ СВОБОДЫ»</a:t>
            </a:r>
            <a:endParaRPr lang="en-US" sz="975" dirty="0"/>
          </a:p>
        </p:txBody>
      </p:sp>
      <p:sp>
        <p:nvSpPr>
          <p:cNvPr id="30" name="Text 24"/>
          <p:cNvSpPr/>
          <p:nvPr/>
        </p:nvSpPr>
        <p:spPr>
          <a:xfrm>
            <a:off x="2340992" y="9401175"/>
            <a:ext cx="9901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ОСТАНОВКА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09 — №04</a:t>
            </a:r>
            <a:endParaRPr lang="en-US" sz="975" dirty="0"/>
          </a:p>
        </p:txBody>
      </p:sp>
      <p:sp>
        <p:nvSpPr>
          <p:cNvPr id="31" name="Text 25"/>
          <p:cNvSpPr/>
          <p:nvPr/>
        </p:nvSpPr>
        <p:spPr>
          <a:xfrm>
            <a:off x="15501268" y="9644063"/>
            <a:ext cx="200568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7 ПОЗИЦИЙ СЕРИИ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857250" y="457200"/>
            <a:ext cx="361950" cy="361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2550" y="538163"/>
            <a:ext cx="7963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3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14915406" y="457200"/>
            <a:ext cx="259154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31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15 — КАТАЛОГ · №05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857250" y="1181100"/>
            <a:ext cx="8196114" cy="7810500"/>
          </a:xfrm>
          <a:prstGeom prst="rect">
            <a:avLst/>
          </a:prstGeom>
          <a:solidFill>
            <a:srgbClr val="EFE5CF">
              <a:alpha val="4000"/>
            </a:srgbClr>
          </a:solidFill>
          <a:ln w="9525">
            <a:solidFill>
              <a:srgbClr val="EFE5CF">
                <a:alpha val="10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019175" y="1343025"/>
            <a:ext cx="1662113" cy="342900"/>
          </a:xfrm>
          <a:prstGeom prst="rect">
            <a:avLst/>
          </a:prstGeom>
          <a:solidFill>
            <a:srgbClr val="0F1410"/>
          </a:solidFill>
          <a:ln w="9525">
            <a:solidFill>
              <a:srgbClr val="EFE5CF">
                <a:alpha val="2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62050" y="1428750"/>
            <a:ext cx="145256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234" kern="0" dirty="0">
                <a:solidFill>
                  <a:srgbClr val="EFE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№ 05 · Fig. 06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6775" y="1190625"/>
            <a:ext cx="8177064" cy="779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24864" y="1582415"/>
            <a:ext cx="804006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54" kern="0" dirty="0">
                <a:solidFill>
                  <a:srgbClr val="A8C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ГОРЫ · МОГУЩЕСТВЕННЫЙ ПОКОЙ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9624864" y="1977703"/>
            <a:ext cx="8040063" cy="295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87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Пирамида из трёх камней.</a:t>
            </a:r>
            <a:endParaRPr lang="en-US" sz="8700" dirty="0"/>
          </a:p>
        </p:txBody>
      </p:sp>
      <p:sp>
        <p:nvSpPr>
          <p:cNvPr id="12" name="Text 7"/>
          <p:cNvSpPr/>
          <p:nvPr/>
        </p:nvSpPr>
        <p:spPr>
          <a:xfrm>
            <a:off x="9624864" y="5027935"/>
            <a:ext cx="804006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Cairn · горный тур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9624864" y="5628010"/>
            <a:ext cx="3986077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Формовая свеча — три гальки, сложенные как знак, что здесь кто-то был. Горит как единая форма, проявляя структуру слоя за слоем.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9624864" y="6709097"/>
            <a:ext cx="7805886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9624864" y="7590160"/>
            <a:ext cx="2601962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9624864" y="6890072"/>
            <a:ext cx="25067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</a:t>
            </a:r>
            <a:endParaRPr lang="en-US" sz="825" dirty="0"/>
          </a:p>
        </p:txBody>
      </p:sp>
      <p:sp>
        <p:nvSpPr>
          <p:cNvPr id="17" name="Text 12"/>
          <p:cNvSpPr/>
          <p:nvPr/>
        </p:nvSpPr>
        <p:spPr>
          <a:xfrm>
            <a:off x="9624864" y="7104385"/>
            <a:ext cx="25067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Формовая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12226826" y="7590160"/>
            <a:ext cx="2601962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12226826" y="6890072"/>
            <a:ext cx="25067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КАМНЕЙ</a:t>
            </a:r>
            <a:endParaRPr lang="en-US" sz="825" dirty="0"/>
          </a:p>
        </p:txBody>
      </p:sp>
      <p:sp>
        <p:nvSpPr>
          <p:cNvPr id="20" name="Text 15"/>
          <p:cNvSpPr/>
          <p:nvPr/>
        </p:nvSpPr>
        <p:spPr>
          <a:xfrm>
            <a:off x="12226826" y="7104385"/>
            <a:ext cx="25067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1650" dirty="0"/>
          </a:p>
        </p:txBody>
      </p:sp>
      <p:sp>
        <p:nvSpPr>
          <p:cNvPr id="21" name="Shape 16"/>
          <p:cNvSpPr/>
          <p:nvPr/>
        </p:nvSpPr>
        <p:spPr>
          <a:xfrm>
            <a:off x="14828788" y="7590160"/>
            <a:ext cx="2601962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14828788" y="6890072"/>
            <a:ext cx="25067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СИЛУЭТ</a:t>
            </a:r>
            <a:endParaRPr lang="en-US" sz="825" dirty="0"/>
          </a:p>
        </p:txBody>
      </p:sp>
      <p:sp>
        <p:nvSpPr>
          <p:cNvPr id="23" name="Text 18"/>
          <p:cNvSpPr/>
          <p:nvPr/>
        </p:nvSpPr>
        <p:spPr>
          <a:xfrm>
            <a:off x="14828788" y="7104385"/>
            <a:ext cx="25067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Cairn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9624864" y="7904485"/>
            <a:ext cx="170333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1 700 </a:t>
            </a:r>
            <a:pPr algn="l" indent="0" marL="0">
              <a:lnSpc>
                <a:spcPct val="100000"/>
              </a:lnSpc>
              <a:buNone/>
            </a:pPr>
            <a:r>
              <a:rPr lang="en-US" sz="243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₽</a:t>
            </a:r>
            <a:endParaRPr lang="en-US" sz="5400" dirty="0"/>
          </a:p>
        </p:txBody>
      </p:sp>
      <p:sp>
        <p:nvSpPr>
          <p:cNvPr id="25" name="Shape 20"/>
          <p:cNvSpPr/>
          <p:nvPr/>
        </p:nvSpPr>
        <p:spPr>
          <a:xfrm>
            <a:off x="11633002" y="8566472"/>
            <a:ext cx="1704082" cy="9525"/>
          </a:xfrm>
          <a:prstGeom prst="rect">
            <a:avLst/>
          </a:prstGeom>
          <a:solidFill>
            <a:srgbClr val="D28A55"/>
          </a:solidFill>
          <a:ln/>
        </p:spPr>
      </p:sp>
      <p:sp>
        <p:nvSpPr>
          <p:cNvPr id="26" name="Text 21"/>
          <p:cNvSpPr/>
          <p:nvPr/>
        </p:nvSpPr>
        <p:spPr>
          <a:xfrm>
            <a:off x="11633002" y="8342635"/>
            <a:ext cx="1780282" cy="223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54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ОБСУДИТЬ ЗАКАЗ →</a:t>
            </a:r>
            <a:endParaRPr lang="en-US" sz="975" dirty="0"/>
          </a:p>
        </p:txBody>
      </p:sp>
      <p:sp>
        <p:nvSpPr>
          <p:cNvPr id="27" name="Shape 22"/>
          <p:cNvSpPr/>
          <p:nvPr/>
        </p:nvSpPr>
        <p:spPr>
          <a:xfrm>
            <a:off x="857250" y="9163050"/>
            <a:ext cx="1657350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857250" y="9401175"/>
            <a:ext cx="241183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ТРОПА ВЫШЕ ГРАНИЦЫ ЛЕСА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«ПОКОЙ ЛАВЫ»</a:t>
            </a:r>
            <a:endParaRPr lang="en-US" sz="975" dirty="0"/>
          </a:p>
        </p:txBody>
      </p:sp>
      <p:sp>
        <p:nvSpPr>
          <p:cNvPr id="29" name="Text 24"/>
          <p:cNvSpPr/>
          <p:nvPr/>
        </p:nvSpPr>
        <p:spPr>
          <a:xfrm>
            <a:off x="3650084" y="9401175"/>
            <a:ext cx="9901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ОСТАНОВКА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10 — №05</a:t>
            </a:r>
            <a:endParaRPr lang="en-US" sz="975" dirty="0"/>
          </a:p>
        </p:txBody>
      </p:sp>
      <p:sp>
        <p:nvSpPr>
          <p:cNvPr id="30" name="Text 25"/>
          <p:cNvSpPr/>
          <p:nvPr/>
        </p:nvSpPr>
        <p:spPr>
          <a:xfrm>
            <a:off x="15501268" y="9644063"/>
            <a:ext cx="200568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7 ПОЗИЦИЙ СЕРИИ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857250" y="457200"/>
            <a:ext cx="361950" cy="361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2550" y="538163"/>
            <a:ext cx="7963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3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14915406" y="457200"/>
            <a:ext cx="259154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31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15 — КАТАЛОГ · №06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9234562" y="1181100"/>
            <a:ext cx="8196188" cy="7810500"/>
          </a:xfrm>
          <a:prstGeom prst="rect">
            <a:avLst/>
          </a:prstGeom>
          <a:solidFill>
            <a:srgbClr val="EFE5CF">
              <a:alpha val="4000"/>
            </a:srgbClr>
          </a:solidFill>
          <a:ln w="9525">
            <a:solidFill>
              <a:srgbClr val="EFE5CF">
                <a:alpha val="10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396487" y="1343025"/>
            <a:ext cx="1662113" cy="342900"/>
          </a:xfrm>
          <a:prstGeom prst="rect">
            <a:avLst/>
          </a:prstGeom>
          <a:solidFill>
            <a:srgbClr val="0F1410"/>
          </a:solidFill>
          <a:ln w="9525">
            <a:solidFill>
              <a:srgbClr val="EFE5CF">
                <a:alpha val="2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539362" y="1428750"/>
            <a:ext cx="145256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234" kern="0" dirty="0">
                <a:solidFill>
                  <a:srgbClr val="EFE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№ 06 · Fig. 07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44087" y="1190625"/>
            <a:ext cx="8177138" cy="779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7250" y="2554709"/>
            <a:ext cx="803998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54" kern="0" dirty="0">
                <a:solidFill>
                  <a:srgbClr val="A8C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ГОРЫ · МОГУЩЕСТВЕННЫЙ ПОКОЙ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857250" y="2949997"/>
            <a:ext cx="8039986" cy="1010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87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Скала.</a:t>
            </a:r>
            <a:endParaRPr lang="en-US" sz="8700" dirty="0"/>
          </a:p>
        </p:txBody>
      </p:sp>
      <p:sp>
        <p:nvSpPr>
          <p:cNvPr id="12" name="Text 7"/>
          <p:cNvSpPr/>
          <p:nvPr/>
        </p:nvSpPr>
        <p:spPr>
          <a:xfrm>
            <a:off x="857250" y="4055641"/>
            <a:ext cx="803998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Гранёная вершина на закате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857250" y="4655716"/>
            <a:ext cx="3986077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Силуэтное движение в тени. Самая «портретная» свеча серии: красиво стоит, красиво горит.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857250" y="5736803"/>
            <a:ext cx="7805812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857250" y="6617866"/>
            <a:ext cx="2601888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857250" y="5917778"/>
            <a:ext cx="250663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</a:t>
            </a:r>
            <a:endParaRPr lang="en-US" sz="825" dirty="0"/>
          </a:p>
        </p:txBody>
      </p:sp>
      <p:sp>
        <p:nvSpPr>
          <p:cNvPr id="17" name="Text 12"/>
          <p:cNvSpPr/>
          <p:nvPr/>
        </p:nvSpPr>
        <p:spPr>
          <a:xfrm>
            <a:off x="857250" y="6132091"/>
            <a:ext cx="25066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Формовая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3459138" y="6617866"/>
            <a:ext cx="2601962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3459138" y="5917778"/>
            <a:ext cx="25067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СИЛУЭТ</a:t>
            </a:r>
            <a:endParaRPr lang="en-US" sz="825" dirty="0"/>
          </a:p>
        </p:txBody>
      </p:sp>
      <p:sp>
        <p:nvSpPr>
          <p:cNvPr id="20" name="Text 15"/>
          <p:cNvSpPr/>
          <p:nvPr/>
        </p:nvSpPr>
        <p:spPr>
          <a:xfrm>
            <a:off x="3459138" y="6132091"/>
            <a:ext cx="25067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Пик</a:t>
            </a:r>
            <a:endParaRPr lang="en-US" sz="1650" dirty="0"/>
          </a:p>
        </p:txBody>
      </p:sp>
      <p:sp>
        <p:nvSpPr>
          <p:cNvPr id="21" name="Shape 16"/>
          <p:cNvSpPr/>
          <p:nvPr/>
        </p:nvSpPr>
        <p:spPr>
          <a:xfrm>
            <a:off x="6061100" y="6617866"/>
            <a:ext cx="2601962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6061100" y="5917778"/>
            <a:ext cx="25067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РАЗМЕР</a:t>
            </a:r>
            <a:endParaRPr lang="en-US" sz="825" dirty="0"/>
          </a:p>
        </p:txBody>
      </p:sp>
      <p:sp>
        <p:nvSpPr>
          <p:cNvPr id="23" name="Text 18"/>
          <p:cNvSpPr/>
          <p:nvPr/>
        </p:nvSpPr>
        <p:spPr>
          <a:xfrm>
            <a:off x="6061100" y="6132091"/>
            <a:ext cx="25067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Средний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857250" y="6932191"/>
            <a:ext cx="135634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800 </a:t>
            </a:r>
            <a:pPr algn="l" indent="0" marL="0">
              <a:lnSpc>
                <a:spcPct val="100000"/>
              </a:lnSpc>
              <a:buNone/>
            </a:pPr>
            <a:r>
              <a:rPr lang="en-US" sz="243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₽</a:t>
            </a:r>
            <a:endParaRPr lang="en-US" sz="5400" dirty="0"/>
          </a:p>
        </p:txBody>
      </p:sp>
      <p:sp>
        <p:nvSpPr>
          <p:cNvPr id="25" name="Shape 20"/>
          <p:cNvSpPr/>
          <p:nvPr/>
        </p:nvSpPr>
        <p:spPr>
          <a:xfrm>
            <a:off x="2518395" y="7594178"/>
            <a:ext cx="1704082" cy="9525"/>
          </a:xfrm>
          <a:prstGeom prst="rect">
            <a:avLst/>
          </a:prstGeom>
          <a:solidFill>
            <a:srgbClr val="D28A55"/>
          </a:solidFill>
          <a:ln/>
        </p:spPr>
      </p:sp>
      <p:sp>
        <p:nvSpPr>
          <p:cNvPr id="26" name="Text 21"/>
          <p:cNvSpPr/>
          <p:nvPr/>
        </p:nvSpPr>
        <p:spPr>
          <a:xfrm>
            <a:off x="2518395" y="7370341"/>
            <a:ext cx="1780282" cy="223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54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ОБСУДИТЬ ЗАКАЗ →</a:t>
            </a:r>
            <a:endParaRPr lang="en-US" sz="975" dirty="0"/>
          </a:p>
        </p:txBody>
      </p:sp>
      <p:sp>
        <p:nvSpPr>
          <p:cNvPr id="27" name="Shape 22"/>
          <p:cNvSpPr/>
          <p:nvPr/>
        </p:nvSpPr>
        <p:spPr>
          <a:xfrm>
            <a:off x="857250" y="9163050"/>
            <a:ext cx="1657350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857250" y="9401175"/>
            <a:ext cx="93836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ВЕРШИНА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«ПОКОЙ ЛАВЫ»</a:t>
            </a:r>
            <a:endParaRPr lang="en-US" sz="975" dirty="0"/>
          </a:p>
        </p:txBody>
      </p:sp>
      <p:sp>
        <p:nvSpPr>
          <p:cNvPr id="29" name="Text 24"/>
          <p:cNvSpPr/>
          <p:nvPr/>
        </p:nvSpPr>
        <p:spPr>
          <a:xfrm>
            <a:off x="2176611" y="9401175"/>
            <a:ext cx="9901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ОСТАНОВКА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11 — №06</a:t>
            </a:r>
            <a:endParaRPr lang="en-US" sz="975" dirty="0"/>
          </a:p>
        </p:txBody>
      </p:sp>
      <p:sp>
        <p:nvSpPr>
          <p:cNvPr id="30" name="Text 25"/>
          <p:cNvSpPr/>
          <p:nvPr/>
        </p:nvSpPr>
        <p:spPr>
          <a:xfrm>
            <a:off x="15501268" y="9644063"/>
            <a:ext cx="200568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7 ПОЗИЦИЙ СЕРИИ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857250" y="457200"/>
            <a:ext cx="361950" cy="361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2550" y="538163"/>
            <a:ext cx="7963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3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14915406" y="457200"/>
            <a:ext cx="259154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31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15 — КАТАЛОГ · №07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857250" y="1181100"/>
            <a:ext cx="8196114" cy="7810500"/>
          </a:xfrm>
          <a:prstGeom prst="rect">
            <a:avLst/>
          </a:prstGeom>
          <a:solidFill>
            <a:srgbClr val="EFE5CF">
              <a:alpha val="4000"/>
            </a:srgbClr>
          </a:solidFill>
          <a:ln w="9525">
            <a:solidFill>
              <a:srgbClr val="EFE5CF">
                <a:alpha val="10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019175" y="1343025"/>
            <a:ext cx="1662113" cy="342900"/>
          </a:xfrm>
          <a:prstGeom prst="rect">
            <a:avLst/>
          </a:prstGeom>
          <a:solidFill>
            <a:srgbClr val="0F1410"/>
          </a:solidFill>
          <a:ln w="9525">
            <a:solidFill>
              <a:srgbClr val="EFE5CF">
                <a:alpha val="2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62050" y="1428750"/>
            <a:ext cx="145256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234" kern="0" dirty="0">
                <a:solidFill>
                  <a:srgbClr val="EFE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№ 07 · Fig. 08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6775" y="1190625"/>
            <a:ext cx="8177064" cy="779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24864" y="2068562"/>
            <a:ext cx="804006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54" kern="0" dirty="0">
                <a:solidFill>
                  <a:srgbClr val="A8C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ГОРЫ · МОГУЩЕСТВЕННЫЙ ПОКОЙ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9624864" y="2463850"/>
            <a:ext cx="8040063" cy="198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87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Галька. Пара.</a:t>
            </a:r>
            <a:endParaRPr lang="en-US" sz="8700" dirty="0"/>
          </a:p>
        </p:txBody>
      </p:sp>
      <p:sp>
        <p:nvSpPr>
          <p:cNvPr id="12" name="Text 7"/>
          <p:cNvSpPr/>
          <p:nvPr/>
        </p:nvSpPr>
        <p:spPr>
          <a:xfrm>
            <a:off x="9624864" y="4541788"/>
            <a:ext cx="804006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Окатыши: тёплый дым и холодный камень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9624864" y="5141863"/>
            <a:ext cx="3986077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Маленький, тихий объект, который удобно дарить в паре с открыткой и сургучной печатью.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9624864" y="6222950"/>
            <a:ext cx="7805886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9624864" y="7104013"/>
            <a:ext cx="2601962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9624864" y="6403925"/>
            <a:ext cx="25067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</a:t>
            </a:r>
            <a:endParaRPr lang="en-US" sz="825" dirty="0"/>
          </a:p>
        </p:txBody>
      </p:sp>
      <p:sp>
        <p:nvSpPr>
          <p:cNvPr id="17" name="Text 12"/>
          <p:cNvSpPr/>
          <p:nvPr/>
        </p:nvSpPr>
        <p:spPr>
          <a:xfrm>
            <a:off x="9624864" y="6618238"/>
            <a:ext cx="25067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Формовая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12226826" y="7104013"/>
            <a:ext cx="2601962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12226826" y="6403925"/>
            <a:ext cx="25067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СИЛУЭТ</a:t>
            </a:r>
            <a:endParaRPr lang="en-US" sz="825" dirty="0"/>
          </a:p>
        </p:txBody>
      </p:sp>
      <p:sp>
        <p:nvSpPr>
          <p:cNvPr id="20" name="Text 15"/>
          <p:cNvSpPr/>
          <p:nvPr/>
        </p:nvSpPr>
        <p:spPr>
          <a:xfrm>
            <a:off x="12226826" y="6618238"/>
            <a:ext cx="25067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Окатыш</a:t>
            </a:r>
            <a:endParaRPr lang="en-US" sz="1650" dirty="0"/>
          </a:p>
        </p:txBody>
      </p:sp>
      <p:sp>
        <p:nvSpPr>
          <p:cNvPr id="21" name="Shape 16"/>
          <p:cNvSpPr/>
          <p:nvPr/>
        </p:nvSpPr>
        <p:spPr>
          <a:xfrm>
            <a:off x="14828788" y="7104013"/>
            <a:ext cx="2601962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14828788" y="6403925"/>
            <a:ext cx="25067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ПАРЕ</a:t>
            </a:r>
            <a:endParaRPr lang="en-US" sz="825" dirty="0"/>
          </a:p>
        </p:txBody>
      </p:sp>
      <p:sp>
        <p:nvSpPr>
          <p:cNvPr id="23" name="Text 18"/>
          <p:cNvSpPr/>
          <p:nvPr/>
        </p:nvSpPr>
        <p:spPr>
          <a:xfrm>
            <a:off x="14828788" y="6618238"/>
            <a:ext cx="25067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 шт.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9624864" y="7418338"/>
            <a:ext cx="13399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900 </a:t>
            </a:r>
            <a:pPr algn="l" indent="0" marL="0">
              <a:lnSpc>
                <a:spcPct val="100000"/>
              </a:lnSpc>
              <a:buNone/>
            </a:pPr>
            <a:r>
              <a:rPr lang="en-US" sz="243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₽</a:t>
            </a:r>
            <a:endParaRPr lang="en-US" sz="5400" dirty="0"/>
          </a:p>
        </p:txBody>
      </p:sp>
      <p:sp>
        <p:nvSpPr>
          <p:cNvPr id="25" name="Shape 20"/>
          <p:cNvSpPr/>
          <p:nvPr/>
        </p:nvSpPr>
        <p:spPr>
          <a:xfrm>
            <a:off x="11269563" y="8080325"/>
            <a:ext cx="1704082" cy="9525"/>
          </a:xfrm>
          <a:prstGeom prst="rect">
            <a:avLst/>
          </a:prstGeom>
          <a:solidFill>
            <a:srgbClr val="D28A55"/>
          </a:solidFill>
          <a:ln/>
        </p:spPr>
      </p:sp>
      <p:sp>
        <p:nvSpPr>
          <p:cNvPr id="26" name="Text 21"/>
          <p:cNvSpPr/>
          <p:nvPr/>
        </p:nvSpPr>
        <p:spPr>
          <a:xfrm>
            <a:off x="11269563" y="7856488"/>
            <a:ext cx="1780282" cy="223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54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ОБСУДИТЬ ЗАКАЗ →</a:t>
            </a:r>
            <a:endParaRPr lang="en-US" sz="975" dirty="0"/>
          </a:p>
        </p:txBody>
      </p:sp>
      <p:sp>
        <p:nvSpPr>
          <p:cNvPr id="27" name="Shape 22"/>
          <p:cNvSpPr/>
          <p:nvPr/>
        </p:nvSpPr>
        <p:spPr>
          <a:xfrm>
            <a:off x="857250" y="9163050"/>
            <a:ext cx="1657350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857250" y="9401175"/>
            <a:ext cx="139638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ДОЛИНА У ВОДЫ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«ПОКОЙ ЛАВЫ»</a:t>
            </a:r>
            <a:endParaRPr lang="en-US" sz="975" dirty="0"/>
          </a:p>
        </p:txBody>
      </p:sp>
      <p:sp>
        <p:nvSpPr>
          <p:cNvPr id="29" name="Text 24"/>
          <p:cNvSpPr/>
          <p:nvPr/>
        </p:nvSpPr>
        <p:spPr>
          <a:xfrm>
            <a:off x="2634630" y="9401175"/>
            <a:ext cx="9901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ОСТАНОВКА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12 — №07</a:t>
            </a:r>
            <a:endParaRPr lang="en-US" sz="975" dirty="0"/>
          </a:p>
        </p:txBody>
      </p:sp>
      <p:sp>
        <p:nvSpPr>
          <p:cNvPr id="30" name="Text 25"/>
          <p:cNvSpPr/>
          <p:nvPr/>
        </p:nvSpPr>
        <p:spPr>
          <a:xfrm>
            <a:off x="15501268" y="9644063"/>
            <a:ext cx="200568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7 ПОЗИЦИЙ СЕРИИ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857250" y="457200"/>
            <a:ext cx="361950" cy="361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2550" y="538163"/>
            <a:ext cx="7963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3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15352886" y="457200"/>
            <a:ext cx="215406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31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15 — QR-РИТУАЛ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857250" y="1047750"/>
            <a:ext cx="170707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94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ГЛАВНАЯ ФИШКА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857250" y="1552575"/>
            <a:ext cx="11324901" cy="1965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250" spc="-82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Свеча — это </a:t>
            </a:r>
            <a:pPr algn="l" indent="0" marL="0">
              <a:lnSpc>
                <a:spcPct val="92000"/>
              </a:lnSpc>
              <a:buNone/>
            </a:pPr>
            <a:r>
              <a:rPr lang="en-US" sz="8250" i="1" spc="-82" kern="0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половина </a:t>
            </a:r>
            <a:pPr algn="l" indent="0" marL="0">
              <a:lnSpc>
                <a:spcPct val="92000"/>
              </a:lnSpc>
              <a:buNone/>
            </a:pPr>
            <a:r>
              <a:rPr lang="en-US" sz="8250" spc="-82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опыта.</a:t>
            </a:r>
            <a:endParaRPr lang="en-US" sz="8250" dirty="0"/>
          </a:p>
        </p:txBody>
      </p:sp>
      <p:sp>
        <p:nvSpPr>
          <p:cNvPr id="8" name="Shape 4"/>
          <p:cNvSpPr/>
          <p:nvPr/>
        </p:nvSpPr>
        <p:spPr>
          <a:xfrm rot="-96000">
            <a:off x="2124075" y="3811748"/>
            <a:ext cx="4133850" cy="5514975"/>
          </a:xfrm>
          <a:prstGeom prst="rect">
            <a:avLst/>
          </a:prstGeom>
          <a:solidFill>
            <a:srgbClr val="EFE5CF"/>
          </a:solidFill>
          <a:ln/>
          <a:effectLst>
            <a:outerShdw sx="100000" sy="100000" kx="0" ky="0" algn="bl" rotWithShape="0" blurRad="762000" dist="285750" dir="5400000">
              <a:srgbClr val="000000">
                <a:alpha val="6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2321975" y="4030754"/>
            <a:ext cx="3720823" cy="618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dirty="0">
                <a:solidFill>
                  <a:srgbClr val="0F141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МАВИТА</a:t>
            </a:r>
            <a:endParaRPr lang="en-US" sz="4200" dirty="0"/>
          </a:p>
        </p:txBody>
      </p:sp>
      <p:sp>
        <p:nvSpPr>
          <p:cNvPr id="10" name="Text 6"/>
          <p:cNvSpPr/>
          <p:nvPr/>
        </p:nvSpPr>
        <p:spPr>
          <a:xfrm>
            <a:off x="2336974" y="4567740"/>
            <a:ext cx="3711949" cy="310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252" kern="0" dirty="0">
                <a:solidFill>
                  <a:srgbClr val="0F141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ВАША СТИХИЯ — ВНУТРИ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014284" y="6285554"/>
            <a:ext cx="2406806" cy="2480849"/>
          </a:xfrm>
          <a:prstGeom prst="rect">
            <a:avLst/>
          </a:prstGeom>
          <a:solidFill>
            <a:srgbClr val="F7EFDC"/>
          </a:solidFill>
          <a:ln w="9525">
            <a:solidFill>
              <a:srgbClr val="0F1410">
                <a:alpha val="30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092" y="6432362"/>
            <a:ext cx="2111062" cy="21110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02134" y="8835805"/>
            <a:ext cx="3711949" cy="310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spc="252" kern="0" dirty="0">
                <a:solidFill>
                  <a:srgbClr val="0F141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СЧИТАЙТЕ — И УСЛЫШЬТЕ СТИХИЮ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 rot="-480000">
            <a:off x="5499161" y="8404622"/>
            <a:ext cx="609600" cy="609600"/>
          </a:xfrm>
          <a:prstGeom prst="ellipse">
            <a:avLst/>
          </a:prstGeom>
          <a:solidFill>
            <a:srgbClr val="D2845A"/>
          </a:solidFill>
          <a:ln/>
          <a:effectLst>
            <a:outerShdw sx="100000" sy="100000" kx="0" ky="0" algn="bl" rotWithShape="0" blurRad="114300" dist="38100" dir="5400000">
              <a:srgbClr val="000000">
                <a:alpha val="40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 rot="-480000">
            <a:off x="5499161" y="8404622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М</a:t>
            </a:r>
            <a:endParaRPr lang="en-US" sz="2250" dirty="0"/>
          </a:p>
        </p:txBody>
      </p:sp>
      <p:sp>
        <p:nvSpPr>
          <p:cNvPr id="16" name="Text 11"/>
          <p:cNvSpPr/>
          <p:nvPr/>
        </p:nvSpPr>
        <p:spPr>
          <a:xfrm>
            <a:off x="8096250" y="3975646"/>
            <a:ext cx="4576255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К каждой свече прилагается дизайнерская открытка с сургучной печатью. Считываете QR — поверх аромата включается звук стихии.</a:t>
            </a:r>
            <a:endParaRPr lang="en-US" sz="2100" dirty="0"/>
          </a:p>
        </p:txBody>
      </p:sp>
      <p:sp>
        <p:nvSpPr>
          <p:cNvPr id="17" name="Shape 12"/>
          <p:cNvSpPr/>
          <p:nvPr/>
        </p:nvSpPr>
        <p:spPr>
          <a:xfrm>
            <a:off x="8096250" y="6333976"/>
            <a:ext cx="933450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8096250" y="5819626"/>
            <a:ext cx="873731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Лес после </a:t>
            </a:r>
            <a:pPr algn="l" indent="0" marL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дождя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16883881" y="5972026"/>
            <a:ext cx="6230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31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12:40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096250" y="7105501"/>
            <a:ext cx="933450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96250" y="6591151"/>
            <a:ext cx="873731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Горная </a:t>
            </a:r>
            <a:pPr algn="l" indent="0" marL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река</a:t>
            </a: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16883881" y="6743551"/>
            <a:ext cx="6230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31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08:20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096250" y="7877026"/>
            <a:ext cx="933450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8096250" y="7362676"/>
            <a:ext cx="873731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Дыхание </a:t>
            </a:r>
            <a:pPr algn="l" indent="0" marL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моря</a:t>
            </a:r>
            <a:endParaRPr lang="en-US" sz="2100" dirty="0"/>
          </a:p>
        </p:txBody>
      </p:sp>
      <p:sp>
        <p:nvSpPr>
          <p:cNvPr id="25" name="Text 20"/>
          <p:cNvSpPr/>
          <p:nvPr/>
        </p:nvSpPr>
        <p:spPr>
          <a:xfrm>
            <a:off x="16883881" y="7515076"/>
            <a:ext cx="6230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31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14:10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096250" y="8648551"/>
            <a:ext cx="933450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8096250" y="8134201"/>
            <a:ext cx="873731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Шелест </a:t>
            </a:r>
            <a:pPr algn="l" indent="0" marL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листвы</a:t>
            </a:r>
            <a:endParaRPr lang="en-US" sz="2100" dirty="0"/>
          </a:p>
        </p:txBody>
      </p:sp>
      <p:sp>
        <p:nvSpPr>
          <p:cNvPr id="28" name="Text 23"/>
          <p:cNvSpPr/>
          <p:nvPr/>
        </p:nvSpPr>
        <p:spPr>
          <a:xfrm>
            <a:off x="16883881" y="8286601"/>
            <a:ext cx="6230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31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09:55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8096250" y="9420076"/>
            <a:ext cx="933450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8096250" y="8905726"/>
            <a:ext cx="873731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Тихий </a:t>
            </a:r>
            <a:pPr algn="l" indent="0" marL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костёр</a:t>
            </a:r>
            <a:endParaRPr lang="en-US" sz="2100" dirty="0"/>
          </a:p>
        </p:txBody>
      </p:sp>
      <p:sp>
        <p:nvSpPr>
          <p:cNvPr id="31" name="Text 26"/>
          <p:cNvSpPr/>
          <p:nvPr/>
        </p:nvSpPr>
        <p:spPr>
          <a:xfrm>
            <a:off x="16883881" y="9058126"/>
            <a:ext cx="6230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31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21:30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857250" y="9429601"/>
            <a:ext cx="1657350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33" name="Text 28"/>
          <p:cNvSpPr/>
          <p:nvPr/>
        </p:nvSpPr>
        <p:spPr>
          <a:xfrm>
            <a:off x="857250" y="9667726"/>
            <a:ext cx="303328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МЕСТО ВСТРЕЧИ АРОМАТА И ЗВУКА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QR · СУРГУЧ · ОТКРЫТКА</a:t>
            </a:r>
            <a:endParaRPr lang="en-US" sz="975" dirty="0"/>
          </a:p>
        </p:txBody>
      </p:sp>
      <p:sp>
        <p:nvSpPr>
          <p:cNvPr id="34" name="Text 29"/>
          <p:cNvSpPr/>
          <p:nvPr/>
        </p:nvSpPr>
        <p:spPr>
          <a:xfrm>
            <a:off x="4259387" y="9667726"/>
            <a:ext cx="110601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ОСТАНОВКА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13 — QR-РИТУАЛ</a:t>
            </a:r>
            <a:endParaRPr lang="en-US" sz="975" dirty="0"/>
          </a:p>
        </p:txBody>
      </p:sp>
      <p:sp>
        <p:nvSpPr>
          <p:cNvPr id="35" name="Text 30"/>
          <p:cNvSpPr/>
          <p:nvPr/>
        </p:nvSpPr>
        <p:spPr>
          <a:xfrm>
            <a:off x="15298192" y="9910614"/>
            <a:ext cx="220875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ДОРОЖЕК · ~67 МИНУТ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857250" y="457200"/>
            <a:ext cx="361950" cy="361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2550" y="538163"/>
            <a:ext cx="7963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3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14259297" y="457200"/>
            <a:ext cx="32665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31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15 — ПОДАРОЧНЫЕ СЦЕНАРИИ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857250" y="1276350"/>
            <a:ext cx="170707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294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 НАБОР ПРЕДМЕТОВ · СЦЕНАРИЙ ВЕЧЕРА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857250" y="1781175"/>
            <a:ext cx="10950560" cy="2316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750" spc="-98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Три способа </a:t>
            </a:r>
            <a:pPr algn="l" indent="0" marL="0">
              <a:lnSpc>
                <a:spcPct val="92000"/>
              </a:lnSpc>
              <a:buNone/>
            </a:pPr>
            <a:r>
              <a:rPr lang="en-US" sz="9750" i="1" spc="-98" kern="0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подарить </a:t>
            </a:r>
            <a:pPr algn="l" indent="0" marL="0">
              <a:lnSpc>
                <a:spcPct val="92000"/>
              </a:lnSpc>
              <a:buNone/>
            </a:pPr>
            <a:r>
              <a:rPr lang="en-US" sz="9750" spc="-98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ритуал.</a:t>
            </a:r>
            <a:endParaRPr lang="en-US" sz="9750" dirty="0"/>
          </a:p>
        </p:txBody>
      </p:sp>
      <p:sp>
        <p:nvSpPr>
          <p:cNvPr id="8" name="Shape 4"/>
          <p:cNvSpPr/>
          <p:nvPr/>
        </p:nvSpPr>
        <p:spPr>
          <a:xfrm>
            <a:off x="857250" y="4592836"/>
            <a:ext cx="5295900" cy="4570214"/>
          </a:xfrm>
          <a:prstGeom prst="rect">
            <a:avLst/>
          </a:prstGeom>
          <a:solidFill>
            <a:srgbClr val="EFE5CF">
              <a:alpha val="4000"/>
            </a:srgbClr>
          </a:solidFill>
          <a:ln w="9525">
            <a:solidFill>
              <a:srgbClr val="EFE5CF">
                <a:alpha val="2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247775" y="4983361"/>
            <a:ext cx="46502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234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Сценарий I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247775" y="5326261"/>
            <a:ext cx="4650296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Вечер восстановления.</a:t>
            </a:r>
            <a:endParaRPr lang="en-US" sz="4200" dirty="0"/>
          </a:p>
        </p:txBody>
      </p:sp>
      <p:sp>
        <p:nvSpPr>
          <p:cNvPr id="11" name="Text 7"/>
          <p:cNvSpPr/>
          <p:nvPr/>
        </p:nvSpPr>
        <p:spPr>
          <a:xfrm>
            <a:off x="1247775" y="6511082"/>
            <a:ext cx="465029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Контейнерная свеча, открытка с QR на «горную реку», карточка-инструкция: как замедлиться за 20 минут.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1247775" y="7548563"/>
            <a:ext cx="451485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1121093" y="7729538"/>
            <a:ext cx="4717733" cy="108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Контейнерная свеча · 1</a:t>
            </a:r>
            <a:endParaRPr lang="en-US" sz="1425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25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Открытка с сургучной печатью</a:t>
            </a:r>
            <a:endParaRPr lang="en-US" sz="1425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25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QR-дорожка «Горная река»</a:t>
            </a:r>
            <a:endParaRPr lang="en-US" sz="1425" dirty="0"/>
          </a:p>
        </p:txBody>
      </p:sp>
      <p:sp>
        <p:nvSpPr>
          <p:cNvPr id="14" name="Shape 10"/>
          <p:cNvSpPr/>
          <p:nvPr/>
        </p:nvSpPr>
        <p:spPr>
          <a:xfrm>
            <a:off x="6496050" y="4592836"/>
            <a:ext cx="5295900" cy="4570214"/>
          </a:xfrm>
          <a:prstGeom prst="rect">
            <a:avLst/>
          </a:prstGeom>
          <a:solidFill>
            <a:srgbClr val="EFE5CF">
              <a:alpha val="4000"/>
            </a:srgbClr>
          </a:solidFill>
          <a:ln w="9525">
            <a:solidFill>
              <a:srgbClr val="EFE5CF">
                <a:alpha val="2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86575" y="4983361"/>
            <a:ext cx="46502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234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Сценарий II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886575" y="5326261"/>
            <a:ext cx="4650296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Антистресс- ритуал.</a:t>
            </a:r>
            <a:endParaRPr lang="en-US" sz="4200" dirty="0"/>
          </a:p>
        </p:txBody>
      </p:sp>
      <p:sp>
        <p:nvSpPr>
          <p:cNvPr id="17" name="Text 13"/>
          <p:cNvSpPr/>
          <p:nvPr/>
        </p:nvSpPr>
        <p:spPr>
          <a:xfrm>
            <a:off x="6886575" y="6511082"/>
            <a:ext cx="465029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Формовая «Скала» и «Галька» в паре. Минимум вещей, максимум опоры.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886575" y="7548563"/>
            <a:ext cx="451485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6759893" y="7729538"/>
            <a:ext cx="4717733" cy="108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Формовая «Скала» · 1</a:t>
            </a:r>
            <a:endParaRPr lang="en-US" sz="1425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25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Формовая «Галька» · 2</a:t>
            </a:r>
            <a:endParaRPr lang="en-US" sz="1425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25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Открытка с QR «Тихий костёр»</a:t>
            </a:r>
            <a:endParaRPr lang="en-US" sz="1425" dirty="0"/>
          </a:p>
        </p:txBody>
      </p:sp>
      <p:sp>
        <p:nvSpPr>
          <p:cNvPr id="20" name="Shape 16"/>
          <p:cNvSpPr/>
          <p:nvPr/>
        </p:nvSpPr>
        <p:spPr>
          <a:xfrm>
            <a:off x="12134850" y="4592836"/>
            <a:ext cx="5295900" cy="4570214"/>
          </a:xfrm>
          <a:prstGeom prst="rect">
            <a:avLst/>
          </a:prstGeom>
          <a:solidFill>
            <a:srgbClr val="EFE5CF">
              <a:alpha val="4000"/>
            </a:srgbClr>
          </a:solidFill>
          <a:ln w="9525">
            <a:solidFill>
              <a:srgbClr val="EFE5CF">
                <a:alpha val="2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2525375" y="4983361"/>
            <a:ext cx="46502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234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Сценарий III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2525375" y="5326261"/>
            <a:ext cx="4650296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Мини- путешествие.</a:t>
            </a:r>
            <a:endParaRPr lang="en-US" sz="4200" dirty="0"/>
          </a:p>
        </p:txBody>
      </p:sp>
      <p:sp>
        <p:nvSpPr>
          <p:cNvPr id="23" name="Text 19"/>
          <p:cNvSpPr/>
          <p:nvPr/>
        </p:nvSpPr>
        <p:spPr>
          <a:xfrm>
            <a:off x="12525375" y="6511082"/>
            <a:ext cx="465029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Каменная пирамида из двух свечей с универсальной крышкой и три аудио-дорожки на выбор.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12525375" y="7548563"/>
            <a:ext cx="451485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12398693" y="7729538"/>
            <a:ext cx="4717733" cy="108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Пирамида из 2 свечей</a:t>
            </a:r>
            <a:endParaRPr lang="en-US" sz="1425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25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Универсальная крышка</a:t>
            </a:r>
            <a:endParaRPr lang="en-US" sz="1425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25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 QR-дорожки на выбор</a:t>
            </a:r>
            <a:endParaRPr lang="en-US" sz="1425" dirty="0"/>
          </a:p>
        </p:txBody>
      </p:sp>
      <p:sp>
        <p:nvSpPr>
          <p:cNvPr id="26" name="Shape 22"/>
          <p:cNvSpPr/>
          <p:nvPr/>
        </p:nvSpPr>
        <p:spPr>
          <a:xfrm>
            <a:off x="857250" y="9163050"/>
            <a:ext cx="16573500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57250" y="9401175"/>
            <a:ext cx="190410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ПОДАРОЧНЫЕ ФОРМАТЫ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НА ЗАКАЗ И ПОД ПОВОД</a:t>
            </a:r>
            <a:endParaRPr lang="en-US" sz="975" dirty="0"/>
          </a:p>
        </p:txBody>
      </p:sp>
      <p:sp>
        <p:nvSpPr>
          <p:cNvPr id="28" name="Text 24"/>
          <p:cNvSpPr/>
          <p:nvPr/>
        </p:nvSpPr>
        <p:spPr>
          <a:xfrm>
            <a:off x="3142357" y="9401175"/>
            <a:ext cx="9901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ОСТАНОВКА </a:t>
            </a:r>
            <a:pPr algn="l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14 — ПОДАРКИ</a:t>
            </a:r>
            <a:endParaRPr lang="en-US" sz="975" dirty="0"/>
          </a:p>
        </p:txBody>
      </p:sp>
      <p:sp>
        <p:nvSpPr>
          <p:cNvPr id="29" name="Text 25"/>
          <p:cNvSpPr/>
          <p:nvPr/>
        </p:nvSpPr>
        <p:spPr>
          <a:xfrm>
            <a:off x="15311214" y="9644063"/>
            <a:ext cx="219573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СЦЕНАРИЯ · ОТ 900 ₽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7223894" y="457200"/>
            <a:ext cx="361950" cy="361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81094" y="538163"/>
            <a:ext cx="7963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spc="3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8400003" y="457200"/>
            <a:ext cx="27033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spc="231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15 — ФИНАЛ МАРШРУТА</a:t>
            </a:r>
            <a:endParaRPr lang="en-US" sz="10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8477250" y="1218902"/>
            <a:ext cx="1333500" cy="98167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399429" y="2429173"/>
            <a:ext cx="9489141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Зажгите </a:t>
            </a:r>
            <a:pPr algn="ctr" indent="0" marL="0">
              <a:lnSpc>
                <a:spcPct val="90000"/>
              </a:lnSpc>
              <a:buNone/>
            </a:pPr>
            <a:r>
              <a:rPr lang="en-US" sz="10500" i="1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тишину. </a:t>
            </a:r>
            <a:pPr algn="ctr" indent="0" marL="0">
              <a:lnSpc>
                <a:spcPct val="90000"/>
              </a:lnSpc>
              <a:buNone/>
            </a:pPr>
            <a:r>
              <a:rPr lang="en-US" sz="105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Напишите нам.</a:t>
            </a:r>
            <a:endParaRPr lang="en-US" sz="10500" dirty="0"/>
          </a:p>
        </p:txBody>
      </p:sp>
      <p:sp>
        <p:nvSpPr>
          <p:cNvPr id="8" name="Text 3"/>
          <p:cNvSpPr/>
          <p:nvPr/>
        </p:nvSpPr>
        <p:spPr>
          <a:xfrm>
            <a:off x="7019284" y="5305723"/>
            <a:ext cx="4249358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95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Подберём свечу или сценарий под повод. Обсудим партию для подарков сотрудникам или клиентам, добавим открытку с вашей подписью.</a:t>
            </a:r>
            <a:endParaRPr lang="en-US" sz="1950" dirty="0"/>
          </a:p>
        </p:txBody>
      </p:sp>
      <p:sp>
        <p:nvSpPr>
          <p:cNvPr id="9" name="Shape 4"/>
          <p:cNvSpPr/>
          <p:nvPr/>
        </p:nvSpPr>
        <p:spPr>
          <a:xfrm>
            <a:off x="4537621" y="8753773"/>
            <a:ext cx="9212759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0" name="Shape 5"/>
          <p:cNvSpPr/>
          <p:nvPr/>
        </p:nvSpPr>
        <p:spPr>
          <a:xfrm>
            <a:off x="4537621" y="7572673"/>
            <a:ext cx="9212759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1" name="Shape 6"/>
          <p:cNvSpPr/>
          <p:nvPr/>
        </p:nvSpPr>
        <p:spPr>
          <a:xfrm>
            <a:off x="7599015" y="7582198"/>
            <a:ext cx="9525" cy="117157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2" name="Text 7"/>
          <p:cNvSpPr/>
          <p:nvPr/>
        </p:nvSpPr>
        <p:spPr>
          <a:xfrm>
            <a:off x="4687915" y="7829848"/>
            <a:ext cx="276080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spc="252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ПОЧТА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687915" y="8134648"/>
            <a:ext cx="276080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9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mavitasvechi@mail.ru</a:t>
            </a:r>
            <a:endParaRPr lang="en-US" sz="1950" dirty="0"/>
          </a:p>
        </p:txBody>
      </p:sp>
      <p:sp>
        <p:nvSpPr>
          <p:cNvPr id="14" name="Shape 9"/>
          <p:cNvSpPr/>
          <p:nvPr/>
        </p:nvSpPr>
        <p:spPr>
          <a:xfrm>
            <a:off x="10669935" y="7582198"/>
            <a:ext cx="9525" cy="117157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7758834" y="7829848"/>
            <a:ext cx="276080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spc="252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ВКОНТАКТЕ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7758834" y="8134648"/>
            <a:ext cx="276080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9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vk.com/mavitasvechi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10829611" y="7829848"/>
            <a:ext cx="277061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spc="252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ТЕЛЕФОН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0829611" y="8134648"/>
            <a:ext cx="277061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9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+7 (921) 189-90-08</a:t>
            </a:r>
            <a:endParaRPr lang="en-US" sz="1950" dirty="0"/>
          </a:p>
        </p:txBody>
      </p:sp>
      <p:sp>
        <p:nvSpPr>
          <p:cNvPr id="19" name="Shape 14"/>
          <p:cNvSpPr/>
          <p:nvPr/>
        </p:nvSpPr>
        <p:spPr>
          <a:xfrm>
            <a:off x="6951092" y="9163050"/>
            <a:ext cx="4385742" cy="9525"/>
          </a:xfrm>
          <a:prstGeom prst="rect">
            <a:avLst/>
          </a:prstGeom>
          <a:solidFill>
            <a:srgbClr val="EFE5CF">
              <a:alpha val="20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6912992" y="9401175"/>
            <a:ext cx="177060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КОНЕЧНАЯ ТОЧКА </a:t>
            </a:r>
            <a:pPr algn="ctr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МА · ЗЕМЛЯ · ВИТА · ЖИЗНЬ</a:t>
            </a:r>
            <a:endParaRPr lang="en-US" sz="975" dirty="0"/>
          </a:p>
        </p:txBody>
      </p:sp>
      <p:sp>
        <p:nvSpPr>
          <p:cNvPr id="21" name="Text 16"/>
          <p:cNvSpPr/>
          <p:nvPr/>
        </p:nvSpPr>
        <p:spPr>
          <a:xfrm>
            <a:off x="9064600" y="9401175"/>
            <a:ext cx="9901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ОСТАНОВКА </a:t>
            </a:r>
            <a:pPr algn="ctr" indent="0" marL="0">
              <a:lnSpc>
                <a:spcPct val="150000"/>
              </a:lnSpc>
              <a:buNone/>
            </a:pPr>
            <a:r>
              <a:rPr lang="en-US" sz="1275" i="1" spc="21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15 — ФИНАЛ</a:t>
            </a:r>
            <a:endParaRPr lang="en-US" sz="975" dirty="0"/>
          </a:p>
        </p:txBody>
      </p:sp>
      <p:sp>
        <p:nvSpPr>
          <p:cNvPr id="22" name="Text 17"/>
          <p:cNvSpPr/>
          <p:nvPr/>
        </p:nvSpPr>
        <p:spPr>
          <a:xfrm>
            <a:off x="9978554" y="9644063"/>
            <a:ext cx="139638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215" kern="0" dirty="0">
                <a:solidFill>
                  <a:srgbClr val="EFE5CF">
                    <a:alpha val="4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2026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2026-05-26T07:39:50Z</dcterms:created>
  <dcterms:modified xsi:type="dcterms:W3CDTF">2026-05-26T07:39:50Z</dcterms:modified>
</cp:coreProperties>
</file>